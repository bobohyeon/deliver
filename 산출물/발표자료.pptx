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상단띠"/>
          <p:cNvSpPr/>
          <p:nvPr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라벨"/>
          <p:cNvSpPr/>
          <p:nvPr/>
        </p:nvSpPr>
        <p:spPr>
          <a:xfrm>
            <a:off x="658368" y="1737360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200" b="1" dirty="0">
                <a:solidFill>
                  <a:srgbClr val="3B82F6"/>
                </a:solidFill>
                <a:latin typeface="맑은 고딕"/>
                <a:ea typeface="맑은 고딕"/>
              </a:rPr>
              <a:t>교육과정 미니프로젝트  ·  2026. 08. 07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2084831"/>
            <a:ext cx="10875264" cy="9144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5400" b="1" dirty="0">
                <a:solidFill>
                  <a:srgbClr val="1F2937"/>
                </a:solidFill>
                <a:latin typeface="맑은 고딕"/>
                <a:ea typeface="맑은 고딕"/>
              </a:rPr>
              <a:t>PDF Brief AI</a:t>
            </a:r>
          </a:p>
        </p:txBody>
      </p:sp>
      <p:sp>
        <p:nvSpPr>
          <p:cNvPr id="5" name="부제"/>
          <p:cNvSpPr/>
          <p:nvPr/>
        </p:nvSpPr>
        <p:spPr>
          <a:xfrm>
            <a:off x="658368" y="3054096"/>
            <a:ext cx="10875264" cy="4572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000" dirty="0">
                <a:solidFill>
                  <a:srgbClr val="6B7280"/>
                </a:solidFill>
                <a:latin typeface="맑은 고딕"/>
                <a:ea typeface="맑은 고딕"/>
              </a:rPr>
              <a:t>문서를 읽고 </a:t>
            </a:r>
            <a:r>
              <a:rPr lang="ko-KR" sz="2000" b="1" dirty="0">
                <a:solidFill>
                  <a:srgbClr val="1E40AF"/>
                </a:solidFill>
                <a:latin typeface="맑은 고딕"/>
                <a:ea typeface="맑은 고딕"/>
              </a:rPr>
              <a:t>요약·분류</a:t>
            </a:r>
            <a:r>
              <a:rPr lang="ko-KR" sz="2000" dirty="0">
                <a:solidFill>
                  <a:srgbClr val="6B7280"/>
                </a:solidFill>
                <a:latin typeface="맑은 고딕"/>
                <a:ea typeface="맑은 고딕"/>
              </a:rPr>
              <a:t>하는 웹 서비스</a:t>
            </a:r>
          </a:p>
        </p:txBody>
      </p:sp>
      <p:sp>
        <p:nvSpPr>
          <p:cNvPr id="6" name="선"/>
          <p:cNvSpPr/>
          <p:nvPr/>
        </p:nvSpPr>
        <p:spPr>
          <a:xfrm>
            <a:off x="658368" y="3803904"/>
            <a:ext cx="1280160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팀"/>
          <p:cNvSpPr/>
          <p:nvPr/>
        </p:nvSpPr>
        <p:spPr>
          <a:xfrm>
            <a:off x="658368" y="4114800"/>
            <a:ext cx="10875264" cy="8229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김보현</a:t>
            </a:r>
            <a:r>
              <a:rPr lang="ko-KR" sz="1400" dirty="0">
                <a:solidFill>
                  <a:srgbClr val="6B7280"/>
                </a:solidFill>
                <a:latin typeface="맑은 고딕"/>
                <a:ea typeface="맑은 고딕"/>
              </a:rPr>
              <a:t>  조회·검색·출력 · 공통 컴포넌트 · 산출물</a:t>
            </a:r>
          </a:p>
          <a:p>
            <a:pPr algn="l" marL="0" indent="0">
              <a:lnSpc>
                <a:spcPct val="100000"/>
              </a:lnSpc>
              <a:spcAft>
                <a:spcPts val="40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최재정</a:t>
            </a:r>
            <a:r>
              <a:rPr lang="ko-KR" sz="1400" dirty="0">
                <a:solidFill>
                  <a:srgbClr val="6B7280"/>
                </a:solidFill>
                <a:latin typeface="맑은 고딕"/>
                <a:ea typeface="맑은 고딕"/>
              </a:rPr>
              <a:t>  문서 추출 파이프라인 · 업로드/분석 화면</a:t>
            </a:r>
          </a:p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박세현</a:t>
            </a:r>
            <a:r>
              <a:rPr lang="ko-KR" sz="1400" dirty="0">
                <a:solidFill>
                  <a:srgbClr val="6B7280"/>
                </a:solidFill>
                <a:latin typeface="맑은 고딕"/>
                <a:ea typeface="맑은 고딕"/>
              </a:rPr>
              <a:t>  AI 요약·분류 · OCR 엔진 비교 · UI 개편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CONTENTS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목차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번호"/>
          <p:cNvSpPr/>
          <p:nvPr/>
        </p:nvSpPr>
        <p:spPr>
          <a:xfrm>
            <a:off x="658368" y="1298448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1E40A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이름"/>
          <p:cNvSpPr/>
          <p:nvPr/>
        </p:nvSpPr>
        <p:spPr>
          <a:xfrm>
            <a:off x="1664208" y="1408176"/>
            <a:ext cx="986942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900" b="1" dirty="0">
                <a:solidFill>
                  <a:srgbClr val="1F2937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7" name="구분선"/>
          <p:cNvSpPr/>
          <p:nvPr/>
        </p:nvSpPr>
        <p:spPr>
          <a:xfrm>
            <a:off x="658368" y="1901952"/>
            <a:ext cx="10875264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번호"/>
          <p:cNvSpPr/>
          <p:nvPr/>
        </p:nvSpPr>
        <p:spPr>
          <a:xfrm>
            <a:off x="658368" y="2084832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1E40A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이름"/>
          <p:cNvSpPr/>
          <p:nvPr/>
        </p:nvSpPr>
        <p:spPr>
          <a:xfrm>
            <a:off x="1664208" y="2194560"/>
            <a:ext cx="986942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900" b="1" dirty="0">
                <a:solidFill>
                  <a:srgbClr val="1F2937"/>
                </a:solidFill>
                <a:latin typeface="맑은 고딕"/>
                <a:ea typeface="맑은 고딕"/>
              </a:rPr>
              <a:t>프로젝트 팀 구성 및 역할</a:t>
            </a:r>
          </a:p>
        </p:txBody>
      </p:sp>
      <p:sp>
        <p:nvSpPr>
          <p:cNvPr id="10" name="구분선"/>
          <p:cNvSpPr/>
          <p:nvPr/>
        </p:nvSpPr>
        <p:spPr>
          <a:xfrm>
            <a:off x="658368" y="2688336"/>
            <a:ext cx="10875264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번호"/>
          <p:cNvSpPr/>
          <p:nvPr/>
        </p:nvSpPr>
        <p:spPr>
          <a:xfrm>
            <a:off x="658368" y="2871216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1E40A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이름"/>
          <p:cNvSpPr/>
          <p:nvPr/>
        </p:nvSpPr>
        <p:spPr>
          <a:xfrm>
            <a:off x="1664208" y="2980944"/>
            <a:ext cx="986942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900" b="1" dirty="0">
                <a:solidFill>
                  <a:srgbClr val="1F2937"/>
                </a:solidFill>
                <a:latin typeface="맑은 고딕"/>
                <a:ea typeface="맑은 고딕"/>
              </a:rPr>
              <a:t>프로젝트 수행 절차 및 방법</a:t>
            </a:r>
          </a:p>
        </p:txBody>
      </p:sp>
      <p:sp>
        <p:nvSpPr>
          <p:cNvPr id="13" name="구분선"/>
          <p:cNvSpPr/>
          <p:nvPr/>
        </p:nvSpPr>
        <p:spPr>
          <a:xfrm>
            <a:off x="658368" y="3474720"/>
            <a:ext cx="10875264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4" name="번호"/>
          <p:cNvSpPr/>
          <p:nvPr/>
        </p:nvSpPr>
        <p:spPr>
          <a:xfrm>
            <a:off x="658368" y="365760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1E40A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이름"/>
          <p:cNvSpPr/>
          <p:nvPr/>
        </p:nvSpPr>
        <p:spPr>
          <a:xfrm>
            <a:off x="1664208" y="3767328"/>
            <a:ext cx="986942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900" b="1" dirty="0">
                <a:solidFill>
                  <a:srgbClr val="1F2937"/>
                </a:solidFill>
                <a:latin typeface="맑은 고딕"/>
                <a:ea typeface="맑은 고딕"/>
              </a:rPr>
              <a:t>프로젝트 수행 경과</a:t>
            </a:r>
          </a:p>
        </p:txBody>
      </p:sp>
      <p:sp>
        <p:nvSpPr>
          <p:cNvPr id="16" name="구분선"/>
          <p:cNvSpPr/>
          <p:nvPr/>
        </p:nvSpPr>
        <p:spPr>
          <a:xfrm>
            <a:off x="658368" y="4261104"/>
            <a:ext cx="10875264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7" name="번호"/>
          <p:cNvSpPr/>
          <p:nvPr/>
        </p:nvSpPr>
        <p:spPr>
          <a:xfrm>
            <a:off x="658368" y="4443984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1E40A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18" name="이름"/>
          <p:cNvSpPr/>
          <p:nvPr/>
        </p:nvSpPr>
        <p:spPr>
          <a:xfrm>
            <a:off x="1664208" y="4553712"/>
            <a:ext cx="986942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900" b="1" dirty="0">
                <a:solidFill>
                  <a:srgbClr val="1F2937"/>
                </a:solidFill>
                <a:latin typeface="맑은 고딕"/>
                <a:ea typeface="맑은 고딕"/>
              </a:rPr>
              <a:t>자체 평가 의견</a:t>
            </a:r>
          </a:p>
        </p:txBody>
      </p:sp>
      <p:sp>
        <p:nvSpPr>
          <p:cNvPr id="19" name="구분선"/>
          <p:cNvSpPr/>
          <p:nvPr/>
        </p:nvSpPr>
        <p:spPr>
          <a:xfrm>
            <a:off x="658368" y="5047488"/>
            <a:ext cx="10875264" cy="127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0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발표 시간 15분 · 3인 릴레이 · 라이브 시연 포함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번호"/>
          <p:cNvSpPr/>
          <p:nvPr/>
        </p:nvSpPr>
        <p:spPr>
          <a:xfrm>
            <a:off x="658368" y="22860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600" b="1" dirty="0">
                <a:solidFill>
                  <a:srgbClr val="FFFFF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3566160"/>
            <a:ext cx="108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FFFFFF"/>
                </a:solidFill>
                <a:latin typeface="맑은 고딕"/>
                <a:ea typeface="맑은 고딕"/>
              </a:rPr>
              <a:t>프로젝트 개요</a:t>
            </a:r>
          </a:p>
        </p:txBody>
      </p:sp>
      <p:sp>
        <p:nvSpPr>
          <p:cNvPr id="5" name="설명"/>
          <p:cNvSpPr/>
          <p:nvPr/>
        </p:nvSpPr>
        <p:spPr>
          <a:xfrm>
            <a:off x="658368" y="420624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무엇을 왜 만들었는가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01-1 OVERVIEW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문제 정의와 해결 방안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카드"/>
          <p:cNvSpPr/>
          <p:nvPr/>
        </p:nvSpPr>
        <p:spPr>
          <a:xfrm>
            <a:off x="658368" y="1298448"/>
            <a:ext cx="5287632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6" name="띠"/>
          <p:cNvSpPr/>
          <p:nvPr/>
        </p:nvSpPr>
        <p:spPr>
          <a:xfrm>
            <a:off x="658368" y="1298448"/>
            <a:ext cx="45720" cy="18288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카드글"/>
          <p:cNvSpPr/>
          <p:nvPr/>
        </p:nvSpPr>
        <p:spPr>
          <a:xfrm>
            <a:off x="788368" y="1428448"/>
            <a:ext cx="5007632" cy="15688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지금의 불편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형식이 제각각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PDF · DOCX · HWPX · 스캔 이미지가 섞여 있다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열어봐야 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제목만으로는 내용을 알 수 없어 하나씩 열어 읽는다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검색이 안 된다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스캔·촬영 문서는 글자 정보가 없어 찾을 수 없다</a:t>
            </a:r>
          </a:p>
        </p:txBody>
      </p:sp>
      <p:sp>
        <p:nvSpPr>
          <p:cNvPr id="8" name="카드"/>
          <p:cNvSpPr/>
          <p:nvPr/>
        </p:nvSpPr>
        <p:spPr>
          <a:xfrm>
            <a:off x="6246000" y="1298448"/>
            <a:ext cx="5287632" cy="18288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띠"/>
          <p:cNvSpPr/>
          <p:nvPr/>
        </p:nvSpPr>
        <p:spPr>
          <a:xfrm>
            <a:off x="6246000" y="1298448"/>
            <a:ext cx="45720" cy="18288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카드글"/>
          <p:cNvSpPr/>
          <p:nvPr/>
        </p:nvSpPr>
        <p:spPr>
          <a:xfrm>
            <a:off x="6376000" y="1428448"/>
            <a:ext cx="5007632" cy="15688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해결 방안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한 번의 업로드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형식을 자동 판별해 글자를 뽑고 필요하면 OCR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읽지 않아도 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요약과 카테고리를 자동으로 붙인다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본문까지 검색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추출한 원문을 저장해 내용으로 찾는다</a:t>
            </a:r>
          </a:p>
        </p:txBody>
      </p:sp>
      <p:sp>
        <p:nvSpPr>
          <p:cNvPr id="11" name="정의띠"/>
          <p:cNvSpPr/>
          <p:nvPr/>
        </p:nvSpPr>
        <p:spPr>
          <a:xfrm>
            <a:off x="658368" y="3401568"/>
            <a:ext cx="10875264" cy="7498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2" name="정의"/>
          <p:cNvSpPr/>
          <p:nvPr/>
        </p:nvSpPr>
        <p:spPr>
          <a:xfrm>
            <a:off x="858368" y="3511296"/>
            <a:ext cx="104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800" dirty="0">
                <a:solidFill>
                  <a:srgbClr val="BFDBFE"/>
                </a:solidFill>
                <a:latin typeface="맑은 고딕"/>
                <a:ea typeface="맑은 고딕"/>
              </a:rPr>
              <a:t>업로드한 문서를 </a:t>
            </a:r>
            <a:r>
              <a:rPr lang="ko-KR" sz="1800" b="1" dirty="0">
                <a:solidFill>
                  <a:srgbClr val="FFFFFF"/>
                </a:solidFill>
                <a:latin typeface="맑은 고딕"/>
                <a:ea typeface="맑은 고딕"/>
              </a:rPr>
              <a:t>읽을 수 있는 형태로 바꾸고, 요약·분류해 검색 가능한 상태로 보관</a:t>
            </a:r>
            <a:r>
              <a:rPr lang="ko-KR" sz="1800" dirty="0">
                <a:solidFill>
                  <a:srgbClr val="BFDBFE"/>
                </a:solidFill>
                <a:latin typeface="맑은 고딕"/>
                <a:ea typeface="맑은 고딕"/>
              </a:rPr>
              <a:t>하는 서비스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01-2 SCOPE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범위와 의도적 제외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선택 기능을 빼고 필수 산출물에 시간을 배분했다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58368" y="1418448"/>
          <a:ext cx="10875264" cy="2040000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913790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내용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구현 범위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업로드 · 텍스트 추출 · OCR · AI 요약 · 카테고리 분류 · 목록 · 검색 · 다운로드 · 삭제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지원 형식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PDF · DOCX · HWPX · PNG · JPG  (이미지는 OCR 경로)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처리 제약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파일 10MB · PDF 30페이지 · 추출 45,000자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의도적 제외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인증(지시서상 선택 항목) · PDF 형식 다운로드 · 기준별 분석기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제외 근거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선택 기능에 6~10시간을 쓰면 테스트·문서·발표가 미완이 된다. 삽입 지점만 확보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에러 코드 11종을 정의해 제약 위반 시 화면에 사유를 안내한다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번호"/>
          <p:cNvSpPr/>
          <p:nvPr/>
        </p:nvSpPr>
        <p:spPr>
          <a:xfrm>
            <a:off x="658368" y="22860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600" b="1" dirty="0">
                <a:solidFill>
                  <a:srgbClr val="FFFFF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3566160"/>
            <a:ext cx="108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FFFFFF"/>
                </a:solidFill>
                <a:latin typeface="맑은 고딕"/>
                <a:ea typeface="맑은 고딕"/>
              </a:rPr>
              <a:t>프로젝트 팀 구성 및 역할</a:t>
            </a:r>
          </a:p>
        </p:txBody>
      </p:sp>
      <p:sp>
        <p:nvSpPr>
          <p:cNvPr id="5" name="설명"/>
          <p:cNvSpPr/>
          <p:nvPr/>
        </p:nvSpPr>
        <p:spPr>
          <a:xfrm>
            <a:off x="658368" y="420624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누가 무엇을 맡았는가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02-1 TEAM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역할 분담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화면 · API · 로직을 한 세트로 묶어 각자 전체 흐름을 경험하도록 나눴다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58368" y="1418448"/>
          <a:ext cx="10875264" cy="1700000"/>
        </p:xfrm>
        <a:graphic>
          <a:graphicData uri="http://schemas.openxmlformats.org/drawingml/2006/table">
            <a:tbl>
              <a:tblPr firstRow="1" bandRow="1"/>
              <a:tblGrid>
                <a:gridCol w="1051560"/>
                <a:gridCol w="5120640"/>
                <a:gridCol w="470306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팀원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담당 범위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주요 산출물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최재정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문서 추출 파이프라인 (PDF · 이미지 · 전처리 · 표 검출 · 읽기 순서) · 업로드/분석 화면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ERD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박세현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AI 요약·분류 · OCR 엔진 3종 비교와 정확도 측정 · 프론트엔드 UI 개편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프롬프트 설계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김보현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목록 · 상세 · 검색 · 다운로드 · 삭제 · 공통 컴포넌트 · 전처리 프리셋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화면정의서 · WBS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공통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API 계약 · DB 모델 · Docker 구성 · 에러 코드 체계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API 계약서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세로 분할(화면+API+로직) — 가로 분할(프론트/백엔드)을 택하지 않은 이유는 전원이 전체 흐름을 익히기 위함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02-2 PROCESS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협업 방식과 규칙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카드"/>
          <p:cNvSpPr/>
          <p:nvPr/>
        </p:nvSpPr>
        <p:spPr>
          <a:xfrm>
            <a:off x="658368" y="1298448"/>
            <a:ext cx="5287632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6" name="띠"/>
          <p:cNvSpPr/>
          <p:nvPr/>
        </p:nvSpPr>
        <p:spPr>
          <a:xfrm>
            <a:off x="658368" y="1298448"/>
            <a:ext cx="45720" cy="2286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카드글"/>
          <p:cNvSpPr/>
          <p:nvPr/>
        </p:nvSpPr>
        <p:spPr>
          <a:xfrm>
            <a:off x="788368" y="1428448"/>
            <a:ext cx="5007632" cy="2026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충돌을 줄인 규칙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담당자별 파일 분리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Docker 설정을 3명이 각자 만들어 2시간을 버린 뒤 정한 규칙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feature/기능명 브랜치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기능 단위로 분리해 작업 중 영향 차단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API 계약 먼저 확정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엔드포인트·응답 형식을 정한 뒤 각자 구현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Fake 구현체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AI 키가 없어도 화면·조회를 병렬로 개발</a:t>
            </a:r>
          </a:p>
        </p:txBody>
      </p:sp>
      <p:sp>
        <p:nvSpPr>
          <p:cNvPr id="8" name="카드"/>
          <p:cNvSpPr/>
          <p:nvPr/>
        </p:nvSpPr>
        <p:spPr>
          <a:xfrm>
            <a:off x="6246000" y="1298448"/>
            <a:ext cx="5287632" cy="22860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띠"/>
          <p:cNvSpPr/>
          <p:nvPr/>
        </p:nvSpPr>
        <p:spPr>
          <a:xfrm>
            <a:off x="6246000" y="1298448"/>
            <a:ext cx="4572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카드글"/>
          <p:cNvSpPr/>
          <p:nvPr/>
        </p:nvSpPr>
        <p:spPr>
          <a:xfrm>
            <a:off x="6376000" y="1428448"/>
            <a:ext cx="5007632" cy="2026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기록으로 남긴 것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이슈 46건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현상 · 원인 · 조치를 발생 즉시 기록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결정사항 29건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채택안과 함께 미채택 대안과 그 이유까지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중복 구현 통합 원칙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먼저 올라온 코드를 기준으로 두고 보완만 덧붙인다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산출물 형식 통일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CSV는 UTF-8 · 목록 시트는 담당자별로 나누지 않는다</a:t>
            </a:r>
          </a:p>
        </p:txBody>
      </p:sp>
      <p:sp>
        <p:nvSpPr>
          <p:cNvPr id="11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규칙은 미리 정한 것이 아니라 대부분 문제를 겪은 뒤에 정했다 — 그 과정을 이슈로 남겼다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번호"/>
          <p:cNvSpPr/>
          <p:nvPr/>
        </p:nvSpPr>
        <p:spPr>
          <a:xfrm>
            <a:off x="658368" y="22860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600" b="1" dirty="0">
                <a:solidFill>
                  <a:srgbClr val="FFFFF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3566160"/>
            <a:ext cx="108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FFFFFF"/>
                </a:solidFill>
                <a:latin typeface="맑은 고딕"/>
                <a:ea typeface="맑은 고딕"/>
              </a:rPr>
              <a:t>프로젝트 수행 절차 및 방법</a:t>
            </a:r>
          </a:p>
        </p:txBody>
      </p:sp>
      <p:sp>
        <p:nvSpPr>
          <p:cNvPr id="5" name="설명"/>
          <p:cNvSpPr/>
          <p:nvPr/>
        </p:nvSpPr>
        <p:spPr>
          <a:xfrm>
            <a:off x="658368" y="420624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어떻게 만들었는가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03-1 PIPELINE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전체 처리 흐름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업로드 한 번으로 추출부터 분류까지 이어진다</a:t>
            </a:r>
          </a:p>
        </p:txBody>
      </p:sp>
      <p:sp>
        <p:nvSpPr>
          <p:cNvPr id="6" name="흐름"/>
          <p:cNvSpPr/>
          <p:nvPr/>
        </p:nvSpPr>
        <p:spPr>
          <a:xfrm>
            <a:off x="658368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흐름번호"/>
          <p:cNvSpPr/>
          <p:nvPr/>
        </p:nvSpPr>
        <p:spPr>
          <a:xfrm>
            <a:off x="658368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8" name="흐름글"/>
          <p:cNvSpPr/>
          <p:nvPr/>
        </p:nvSpPr>
        <p:spPr>
          <a:xfrm>
            <a:off x="658368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업로드</a:t>
            </a:r>
          </a:p>
        </p:txBody>
      </p:sp>
      <p:sp>
        <p:nvSpPr>
          <p:cNvPr id="9" name="화살표"/>
          <p:cNvSpPr/>
          <p:nvPr/>
        </p:nvSpPr>
        <p:spPr>
          <a:xfrm>
            <a:off x="2304245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흐름"/>
          <p:cNvSpPr/>
          <p:nvPr/>
        </p:nvSpPr>
        <p:spPr>
          <a:xfrm>
            <a:off x="2504245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흐름번호"/>
          <p:cNvSpPr/>
          <p:nvPr/>
        </p:nvSpPr>
        <p:spPr>
          <a:xfrm>
            <a:off x="2504245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2" name="흐름글"/>
          <p:cNvSpPr/>
          <p:nvPr/>
        </p:nvSpPr>
        <p:spPr>
          <a:xfrm>
            <a:off x="2504245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형식 판별</a:t>
            </a:r>
          </a:p>
        </p:txBody>
      </p:sp>
      <p:sp>
        <p:nvSpPr>
          <p:cNvPr id="13" name="화살표"/>
          <p:cNvSpPr/>
          <p:nvPr/>
        </p:nvSpPr>
        <p:spPr>
          <a:xfrm>
            <a:off x="4150122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흐름"/>
          <p:cNvSpPr/>
          <p:nvPr/>
        </p:nvSpPr>
        <p:spPr>
          <a:xfrm>
            <a:off x="4350122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5" name="흐름번호"/>
          <p:cNvSpPr/>
          <p:nvPr/>
        </p:nvSpPr>
        <p:spPr>
          <a:xfrm>
            <a:off x="4350122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6" name="흐름글"/>
          <p:cNvSpPr/>
          <p:nvPr/>
        </p:nvSpPr>
        <p:spPr>
          <a:xfrm>
            <a:off x="4350122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텍스트 추출
/ OCR</a:t>
            </a:r>
          </a:p>
        </p:txBody>
      </p:sp>
      <p:sp>
        <p:nvSpPr>
          <p:cNvPr id="17" name="화살표"/>
          <p:cNvSpPr/>
          <p:nvPr/>
        </p:nvSpPr>
        <p:spPr>
          <a:xfrm>
            <a:off x="5995999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흐름"/>
          <p:cNvSpPr/>
          <p:nvPr/>
        </p:nvSpPr>
        <p:spPr>
          <a:xfrm>
            <a:off x="6195999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9" name="흐름번호"/>
          <p:cNvSpPr/>
          <p:nvPr/>
        </p:nvSpPr>
        <p:spPr>
          <a:xfrm>
            <a:off x="6195999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0" name="흐름글"/>
          <p:cNvSpPr/>
          <p:nvPr/>
        </p:nvSpPr>
        <p:spPr>
          <a:xfrm>
            <a:off x="6195999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읽기 순서
복원</a:t>
            </a:r>
          </a:p>
        </p:txBody>
      </p:sp>
      <p:sp>
        <p:nvSpPr>
          <p:cNvPr id="21" name="화살표"/>
          <p:cNvSpPr/>
          <p:nvPr/>
        </p:nvSpPr>
        <p:spPr>
          <a:xfrm>
            <a:off x="7841876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흐름"/>
          <p:cNvSpPr/>
          <p:nvPr/>
        </p:nvSpPr>
        <p:spPr>
          <a:xfrm>
            <a:off x="8041876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3" name="흐름번호"/>
          <p:cNvSpPr/>
          <p:nvPr/>
        </p:nvSpPr>
        <p:spPr>
          <a:xfrm>
            <a:off x="8041876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4" name="흐름글"/>
          <p:cNvSpPr/>
          <p:nvPr/>
        </p:nvSpPr>
        <p:spPr>
          <a:xfrm>
            <a:off x="8041876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AI 요약
· 분류</a:t>
            </a:r>
          </a:p>
        </p:txBody>
      </p:sp>
      <p:sp>
        <p:nvSpPr>
          <p:cNvPr id="25" name="화살표"/>
          <p:cNvSpPr/>
          <p:nvPr/>
        </p:nvSpPr>
        <p:spPr>
          <a:xfrm>
            <a:off x="9687753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6" name="흐름"/>
          <p:cNvSpPr/>
          <p:nvPr/>
        </p:nvSpPr>
        <p:spPr>
          <a:xfrm>
            <a:off x="9887753" y="1398448"/>
            <a:ext cx="1645877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7" name="흐름번호"/>
          <p:cNvSpPr/>
          <p:nvPr/>
        </p:nvSpPr>
        <p:spPr>
          <a:xfrm>
            <a:off x="9887753" y="1488448"/>
            <a:ext cx="1645877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06</a:t>
            </a:r>
          </a:p>
        </p:txBody>
      </p:sp>
      <p:sp>
        <p:nvSpPr>
          <p:cNvPr id="28" name="흐름글"/>
          <p:cNvSpPr/>
          <p:nvPr/>
        </p:nvSpPr>
        <p:spPr>
          <a:xfrm>
            <a:off x="9887753" y="1672768"/>
            <a:ext cx="1645877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저장 · 조회</a:t>
            </a:r>
          </a:p>
        </p:txBody>
      </p:sp>
      <p:sp>
        <p:nvSpPr>
          <p:cNvPr id="29" name="카드"/>
          <p:cNvSpPr/>
          <p:nvPr/>
        </p:nvSpPr>
        <p:spPr>
          <a:xfrm>
            <a:off x="658368" y="2441448"/>
            <a:ext cx="10875264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0" name="띠"/>
          <p:cNvSpPr/>
          <p:nvPr/>
        </p:nvSpPr>
        <p:spPr>
          <a:xfrm>
            <a:off x="658368" y="2441448"/>
            <a:ext cx="45720" cy="1783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1" name="카드글"/>
          <p:cNvSpPr/>
          <p:nvPr/>
        </p:nvSpPr>
        <p:spPr>
          <a:xfrm>
            <a:off x="788368" y="2571448"/>
            <a:ext cx="10595264" cy="15230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경로가 갈리는 지점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글자 정보가 있으면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텍스트 레이어를 그대로 읽는다 (정확도 100% · 0.1초)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글자 정보가 없으면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이미지로 판단해 OCR 을 태운다 (이미지 1장당 약 13초)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둘이 섞여 있으면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혼합(HYBRID) 경로로 두 결과를 하나의 좌표계에서 합친다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공통 처리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Recursive XY-Cut 으로 단·블록 순서를 복원해 읽는 순서를 맞춘다</a:t>
            </a:r>
          </a:p>
        </p:txBody>
      </p:sp>
      <p:sp>
        <p:nvSpPr>
          <p:cNvPr id="32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OCR 을 항상 태우지 않는 이유 — 텍스트 PDF 에 OCR 을 쓰면 정확도는 떨어지고 시간만 130배 늘어난다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03-2 ARCHITECTURE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시스템 아키텍처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층"/>
          <p:cNvSpPr/>
          <p:nvPr/>
        </p:nvSpPr>
        <p:spPr>
          <a:xfrm>
            <a:off x="658368" y="1298448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6" name="층이름"/>
          <p:cNvSpPr/>
          <p:nvPr/>
        </p:nvSpPr>
        <p:spPr>
          <a:xfrm>
            <a:off x="658368" y="139844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F2937"/>
                </a:solidFill>
                <a:latin typeface="맑은 고딕"/>
                <a:ea typeface="맑은 고딕"/>
              </a:rPr>
              <a:t>화면</a:t>
            </a:r>
          </a:p>
        </p:txBody>
      </p:sp>
      <p:sp>
        <p:nvSpPr>
          <p:cNvPr id="7" name="기술"/>
          <p:cNvSpPr/>
          <p:nvPr/>
        </p:nvSpPr>
        <p:spPr>
          <a:xfrm>
            <a:off x="2212848" y="13584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React · React Router · Axios</a:t>
            </a:r>
          </a:p>
        </p:txBody>
      </p:sp>
      <p:sp>
        <p:nvSpPr>
          <p:cNvPr id="8" name="설명"/>
          <p:cNvSpPr/>
          <p:nvPr/>
        </p:nvSpPr>
        <p:spPr>
          <a:xfrm>
            <a:off x="5230368" y="1368448"/>
            <a:ext cx="6303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목록 · 상세 · 업로드 · OCR 비교 · 404</a:t>
            </a:r>
          </a:p>
        </p:txBody>
      </p:sp>
      <p:sp>
        <p:nvSpPr>
          <p:cNvPr id="9" name="층"/>
          <p:cNvSpPr/>
          <p:nvPr/>
        </p:nvSpPr>
        <p:spPr>
          <a:xfrm>
            <a:off x="658368" y="1865376"/>
            <a:ext cx="13716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층이름"/>
          <p:cNvSpPr/>
          <p:nvPr/>
        </p:nvSpPr>
        <p:spPr>
          <a:xfrm>
            <a:off x="658368" y="1965376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Router</a:t>
            </a:r>
          </a:p>
        </p:txBody>
      </p:sp>
      <p:sp>
        <p:nvSpPr>
          <p:cNvPr id="11" name="기술"/>
          <p:cNvSpPr/>
          <p:nvPr/>
        </p:nvSpPr>
        <p:spPr>
          <a:xfrm>
            <a:off x="2212848" y="192537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FastAPI 엔드포인트 6종</a:t>
            </a:r>
          </a:p>
        </p:txBody>
      </p:sp>
      <p:sp>
        <p:nvSpPr>
          <p:cNvPr id="12" name="설명"/>
          <p:cNvSpPr/>
          <p:nvPr/>
        </p:nvSpPr>
        <p:spPr>
          <a:xfrm>
            <a:off x="5230368" y="1935376"/>
            <a:ext cx="6303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요청 검증과 응답 변환만 담당</a:t>
            </a:r>
          </a:p>
        </p:txBody>
      </p:sp>
      <p:sp>
        <p:nvSpPr>
          <p:cNvPr id="13" name="층"/>
          <p:cNvSpPr/>
          <p:nvPr/>
        </p:nvSpPr>
        <p:spPr>
          <a:xfrm>
            <a:off x="658368" y="2432304"/>
            <a:ext cx="13716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4" name="층이름"/>
          <p:cNvSpPr/>
          <p:nvPr/>
        </p:nvSpPr>
        <p:spPr>
          <a:xfrm>
            <a:off x="658368" y="25323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Service</a:t>
            </a:r>
          </a:p>
        </p:txBody>
      </p:sp>
      <p:sp>
        <p:nvSpPr>
          <p:cNvPr id="15" name="기술"/>
          <p:cNvSpPr/>
          <p:nvPr/>
        </p:nvSpPr>
        <p:spPr>
          <a:xfrm>
            <a:off x="2212848" y="24923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비즈니스 로직</a:t>
            </a:r>
          </a:p>
        </p:txBody>
      </p:sp>
      <p:sp>
        <p:nvSpPr>
          <p:cNvPr id="16" name="설명"/>
          <p:cNvSpPr/>
          <p:nvPr/>
        </p:nvSpPr>
        <p:spPr>
          <a:xfrm>
            <a:off x="5230368" y="2502304"/>
            <a:ext cx="6303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추출 · 분석 · 조회 · 삭제 규칙</a:t>
            </a:r>
          </a:p>
        </p:txBody>
      </p:sp>
      <p:sp>
        <p:nvSpPr>
          <p:cNvPr id="17" name="층"/>
          <p:cNvSpPr/>
          <p:nvPr/>
        </p:nvSpPr>
        <p:spPr>
          <a:xfrm>
            <a:off x="658368" y="2999232"/>
            <a:ext cx="1371600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8" name="층이름"/>
          <p:cNvSpPr/>
          <p:nvPr/>
        </p:nvSpPr>
        <p:spPr>
          <a:xfrm>
            <a:off x="658368" y="309923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FFFFFF"/>
                </a:solidFill>
                <a:latin typeface="맑은 고딕"/>
                <a:ea typeface="맑은 고딕"/>
              </a:rPr>
              <a:t>Repository</a:t>
            </a:r>
          </a:p>
        </p:txBody>
      </p:sp>
      <p:sp>
        <p:nvSpPr>
          <p:cNvPr id="19" name="기술"/>
          <p:cNvSpPr/>
          <p:nvPr/>
        </p:nvSpPr>
        <p:spPr>
          <a:xfrm>
            <a:off x="2212848" y="305923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SQLAlchemy</a:t>
            </a:r>
          </a:p>
        </p:txBody>
      </p:sp>
      <p:sp>
        <p:nvSpPr>
          <p:cNvPr id="20" name="설명"/>
          <p:cNvSpPr/>
          <p:nvPr/>
        </p:nvSpPr>
        <p:spPr>
          <a:xfrm>
            <a:off x="5230368" y="3069232"/>
            <a:ext cx="6303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DB 접근을 이 계층으로만 제한</a:t>
            </a:r>
          </a:p>
        </p:txBody>
      </p:sp>
      <p:sp>
        <p:nvSpPr>
          <p:cNvPr id="21" name="층"/>
          <p:cNvSpPr/>
          <p:nvPr/>
        </p:nvSpPr>
        <p:spPr>
          <a:xfrm>
            <a:off x="658368" y="3566160"/>
            <a:ext cx="1371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2" name="층이름"/>
          <p:cNvSpPr/>
          <p:nvPr/>
        </p:nvSpPr>
        <p:spPr>
          <a:xfrm>
            <a:off x="658368" y="366616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F2937"/>
                </a:solidFill>
                <a:latin typeface="맑은 고딕"/>
                <a:ea typeface="맑은 고딕"/>
              </a:rPr>
              <a:t>DB</a:t>
            </a:r>
          </a:p>
        </p:txBody>
      </p:sp>
      <p:sp>
        <p:nvSpPr>
          <p:cNvPr id="23" name="기술"/>
          <p:cNvSpPr/>
          <p:nvPr/>
        </p:nvSpPr>
        <p:spPr>
          <a:xfrm>
            <a:off x="2212848" y="362616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F2937"/>
                </a:solidFill>
                <a:latin typeface="맑은 고딕"/>
                <a:ea typeface="맑은 고딕"/>
              </a:rPr>
              <a:t>PostgreSQL 16</a:t>
            </a:r>
          </a:p>
        </p:txBody>
      </p:sp>
      <p:sp>
        <p:nvSpPr>
          <p:cNvPr id="24" name="설명"/>
          <p:cNvSpPr/>
          <p:nvPr/>
        </p:nvSpPr>
        <p:spPr>
          <a:xfrm>
            <a:off x="5230368" y="3636160"/>
            <a:ext cx="6303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documents · extracted_texts · analyses</a:t>
            </a:r>
          </a:p>
        </p:txBody>
      </p:sp>
      <p:sp>
        <p:nvSpPr>
          <p:cNvPr id="25" name="컨테이너"/>
          <p:cNvSpPr/>
          <p:nvPr/>
        </p:nvSpPr>
        <p:spPr>
          <a:xfrm>
            <a:off x="658368" y="4224528"/>
            <a:ext cx="10875264" cy="4572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E40AF"/>
                </a:solidFill>
                <a:latin typeface="맑은 고딕"/>
                <a:ea typeface="맑은 고딕"/>
              </a:rPr>
              <a:t>컨테이너 3개  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db · api · frontend  —  docker compose 한 번으로 전원이 같은 환경에서 실행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03-3 DESIGN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설계 포인트 ① 교체 가능한 구조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새 기능을 넣을 때 기존 코드를 고치지 않도록 확장 지점을 미리 뚫어 두었다</a:t>
            </a:r>
          </a:p>
        </p:txBody>
      </p:sp>
      <p:sp>
        <p:nvSpPr>
          <p:cNvPr id="6" name="카드"/>
          <p:cNvSpPr/>
          <p:nvPr/>
        </p:nvSpPr>
        <p:spPr>
          <a:xfrm>
            <a:off x="658368" y="1298448"/>
            <a:ext cx="3451754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띠"/>
          <p:cNvSpPr/>
          <p:nvPr/>
        </p:nvSpPr>
        <p:spPr>
          <a:xfrm>
            <a:off x="658368" y="1298448"/>
            <a:ext cx="45720" cy="1965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카드글"/>
          <p:cNvSpPr/>
          <p:nvPr/>
        </p:nvSpPr>
        <p:spPr>
          <a:xfrm>
            <a:off x="788368" y="1428448"/>
            <a:ext cx="3171754" cy="17059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TextExtractor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무엇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파일 형식별 추출기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구현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PDF · DOCX · HWPX · 이미지 · Tesseract · EasyOCR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확장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새 형식은 registry 에 등록만 하면 된다</a:t>
            </a:r>
          </a:p>
        </p:txBody>
      </p:sp>
      <p:sp>
        <p:nvSpPr>
          <p:cNvPr id="9" name="카드"/>
          <p:cNvSpPr/>
          <p:nvPr/>
        </p:nvSpPr>
        <p:spPr>
          <a:xfrm>
            <a:off x="4370122" y="1298448"/>
            <a:ext cx="3451754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띠"/>
          <p:cNvSpPr/>
          <p:nvPr/>
        </p:nvSpPr>
        <p:spPr>
          <a:xfrm>
            <a:off x="4370122" y="1298448"/>
            <a:ext cx="45720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카드글"/>
          <p:cNvSpPr/>
          <p:nvPr/>
        </p:nvSpPr>
        <p:spPr>
          <a:xfrm>
            <a:off x="4500122" y="1428448"/>
            <a:ext cx="3171754" cy="17059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Analyzer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무엇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분석기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구현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요약 · 카테고리 분류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확장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기준별 분석기 등 새 분석기를 같은 방식으로 추가</a:t>
            </a:r>
          </a:p>
        </p:txBody>
      </p:sp>
      <p:sp>
        <p:nvSpPr>
          <p:cNvPr id="12" name="카드"/>
          <p:cNvSpPr/>
          <p:nvPr/>
        </p:nvSpPr>
        <p:spPr>
          <a:xfrm>
            <a:off x="8081876" y="1298448"/>
            <a:ext cx="3451754" cy="196596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3" name="띠"/>
          <p:cNvSpPr/>
          <p:nvPr/>
        </p:nvSpPr>
        <p:spPr>
          <a:xfrm>
            <a:off x="8081876" y="1298448"/>
            <a:ext cx="45720" cy="19659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4" name="카드글"/>
          <p:cNvSpPr/>
          <p:nvPr/>
        </p:nvSpPr>
        <p:spPr>
          <a:xfrm>
            <a:off x="8211876" y="1428448"/>
            <a:ext cx="3171754" cy="17059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AiClient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무엇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AI 제공자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구현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OpenAI · Fake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확장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제공자를 바꿔도 호출 측 코드는 그대로</a:t>
            </a:r>
          </a:p>
        </p:txBody>
      </p:sp>
      <p:sp>
        <p:nvSpPr>
          <p:cNvPr id="15" name="카드"/>
          <p:cNvSpPr/>
          <p:nvPr/>
        </p:nvSpPr>
        <p:spPr>
          <a:xfrm>
            <a:off x="658368" y="3493008"/>
            <a:ext cx="10875264" cy="786384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6" name="띠"/>
          <p:cNvSpPr/>
          <p:nvPr/>
        </p:nvSpPr>
        <p:spPr>
          <a:xfrm>
            <a:off x="658368" y="3493008"/>
            <a:ext cx="45720" cy="78638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7" name="카드글"/>
          <p:cNvSpPr/>
          <p:nvPr/>
        </p:nvSpPr>
        <p:spPr>
          <a:xfrm>
            <a:off x="788368" y="3623008"/>
            <a:ext cx="10595264" cy="52638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효과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Fake 구현체 덕분에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AI 키를 확보하기 전에도 업로드 · 조회 · 화면을 병렬로 개발할 수 있었다. 실제 연동은 8/5에 한 번에 전환했다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03-4 DESIGN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설계 포인트 ② 전처리와 좌표 책임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전처리는 공짜가 아니다 — 정보를 깎는 대가로 인식률을 사는 선택이다</a:t>
            </a:r>
          </a:p>
        </p:txBody>
      </p:sp>
      <p:sp>
        <p:nvSpPr>
          <p:cNvPr id="6" name="카드"/>
          <p:cNvSpPr/>
          <p:nvPr/>
        </p:nvSpPr>
        <p:spPr>
          <a:xfrm>
            <a:off x="658368" y="1298448"/>
            <a:ext cx="5287632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띠"/>
          <p:cNvSpPr/>
          <p:nvPr/>
        </p:nvSpPr>
        <p:spPr>
          <a:xfrm>
            <a:off x="658368" y="1298448"/>
            <a:ext cx="45720" cy="21031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카드글"/>
          <p:cNvSpPr/>
          <p:nvPr/>
        </p:nvSpPr>
        <p:spPr>
          <a:xfrm>
            <a:off x="788368" y="1428448"/>
            <a:ext cx="5007632" cy="18431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프리셋으로 분리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none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전처리 없음 — 비교의 기준선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light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문서 기본 — 흑백 변환 + 해상도 보정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scan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스캔·촬영본 — 조명 보정과 노이즈 제거까지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full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기울기 보정 포함 — 좌표를 쓰지 않는 경로만</a:t>
            </a:r>
          </a:p>
        </p:txBody>
      </p:sp>
      <p:sp>
        <p:nvSpPr>
          <p:cNvPr id="9" name="카드"/>
          <p:cNvSpPr/>
          <p:nvPr/>
        </p:nvSpPr>
        <p:spPr>
          <a:xfrm>
            <a:off x="6246000" y="1298448"/>
            <a:ext cx="5287632" cy="21031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띠"/>
          <p:cNvSpPr/>
          <p:nvPr/>
        </p:nvSpPr>
        <p:spPr>
          <a:xfrm>
            <a:off x="6246000" y="1298448"/>
            <a:ext cx="45720" cy="2103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카드글"/>
          <p:cNvSpPr/>
          <p:nvPr/>
        </p:nvSpPr>
        <p:spPr>
          <a:xfrm>
            <a:off x="6376000" y="1428448"/>
            <a:ext cx="5007632" cy="18431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좌표 책임을 한 곳에 가둠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문제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확대·회전이 OCR 이 돌려주는 좌표를 바꿔 호출 측과 어긋난다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해결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추출기 안에서 원본 좌표계로 되돌려 반환한다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안전장치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되돌릴 수 없는 회전이 섞이면 예외로 막는다</a:t>
            </a:r>
          </a:p>
        </p:txBody>
      </p:sp>
      <p:sp>
        <p:nvSpPr>
          <p:cNvPr id="12" name="성과"/>
          <p:cNvSpPr/>
          <p:nvPr/>
        </p:nvSpPr>
        <p:spPr>
          <a:xfrm>
            <a:off x="658368" y="363016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b="1" dirty="0">
                <a:solidFill>
                  <a:srgbClr val="1E40AF"/>
                </a:solidFill>
                <a:latin typeface="맑은 고딕"/>
                <a:ea typeface="맑은 고딕"/>
              </a:rPr>
              <a:t>결과  </a:t>
            </a:r>
            <a:r>
              <a:rPr lang="ko-KR" sz="1400" dirty="0">
                <a:solidFill>
                  <a:srgbClr val="1F2937"/>
                </a:solidFill>
                <a:latin typeface="맑은 고딕"/>
                <a:ea typeface="맑은 고딕"/>
              </a:rPr>
              <a:t>다른 담당자가 같은 파일에 283줄을 추가했지만 좌표 경계는 그대로 유지됐다. 주석으로 부탁하는 대신 함수 시그니처로 계약을 만든 것이 이유다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03-5 MEASUREMENT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OCR 엔진 비교 — 측정으로 선택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같은 문서를 세 엔진에 동시에 넣어 정확도와 소요 시간을 비교했다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58368" y="1398448"/>
          <a:ext cx="10875264" cy="1360000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1645920"/>
                <a:gridCol w="1737360"/>
                <a:gridCol w="529742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엔진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정확도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소요 시간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추출 글자 수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PaddleOCR  (채택)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98.1 %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15,541 ms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239자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Tesseract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64.4 %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931 ms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283자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EasyOCR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81.8 %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15,496 ms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2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253자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카드"/>
          <p:cNvSpPr/>
          <p:nvPr/>
        </p:nvSpPr>
        <p:spPr>
          <a:xfrm>
            <a:off x="658368" y="2852928"/>
            <a:ext cx="10875264" cy="14173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띠"/>
          <p:cNvSpPr/>
          <p:nvPr/>
        </p:nvSpPr>
        <p:spPr>
          <a:xfrm>
            <a:off x="658368" y="2852928"/>
            <a:ext cx="45720" cy="14173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카드글"/>
          <p:cNvSpPr/>
          <p:nvPr/>
        </p:nvSpPr>
        <p:spPr>
          <a:xfrm>
            <a:off x="788368" y="2982928"/>
            <a:ext cx="10595264" cy="1157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숫자에서 읽어낸 것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가장 많이 뽑은 엔진이 가장 부정확했다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Tesseract 는 글자 수가 제일 많지만 한 글자씩 세로로 쪼개져 정확도가 최저였다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그래서 글자 수는 품질 지표가 아니다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정답 텍스트와 대조하는 편집거리 방식으로 정확도를 재기로 결정했다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Tesseract 는 17배 빠르지만 쓸 수 없었다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속도와 정확도는 맞바꾸는 관계이며, 문서 인식에서는 정확도가 먼저다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03-6 DEMO   ★ 추천 추가 슬라이드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시연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실제 화면으로 업로드부터 검색·다운로드까지 이어서 보여준다</a:t>
            </a:r>
          </a:p>
        </p:txBody>
      </p:sp>
      <p:sp>
        <p:nvSpPr>
          <p:cNvPr id="6" name="흐름"/>
          <p:cNvSpPr/>
          <p:nvPr/>
        </p:nvSpPr>
        <p:spPr>
          <a:xfrm>
            <a:off x="658368" y="1398448"/>
            <a:ext cx="20150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흐름번호"/>
          <p:cNvSpPr/>
          <p:nvPr/>
        </p:nvSpPr>
        <p:spPr>
          <a:xfrm>
            <a:off x="658368" y="1488448"/>
            <a:ext cx="2015052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8" name="흐름글"/>
          <p:cNvSpPr/>
          <p:nvPr/>
        </p:nvSpPr>
        <p:spPr>
          <a:xfrm>
            <a:off x="658368" y="1672768"/>
            <a:ext cx="2015052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문서 업로드</a:t>
            </a:r>
          </a:p>
        </p:txBody>
      </p:sp>
      <p:sp>
        <p:nvSpPr>
          <p:cNvPr id="9" name="화살표"/>
          <p:cNvSpPr/>
          <p:nvPr/>
        </p:nvSpPr>
        <p:spPr>
          <a:xfrm>
            <a:off x="2673420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0" name="흐름"/>
          <p:cNvSpPr/>
          <p:nvPr/>
        </p:nvSpPr>
        <p:spPr>
          <a:xfrm>
            <a:off x="2873420" y="1398448"/>
            <a:ext cx="20150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흐름번호"/>
          <p:cNvSpPr/>
          <p:nvPr/>
        </p:nvSpPr>
        <p:spPr>
          <a:xfrm>
            <a:off x="2873420" y="1488448"/>
            <a:ext cx="2015052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12" name="흐름글"/>
          <p:cNvSpPr/>
          <p:nvPr/>
        </p:nvSpPr>
        <p:spPr>
          <a:xfrm>
            <a:off x="2873420" y="1672768"/>
            <a:ext cx="2015052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추출 결과
확인</a:t>
            </a:r>
          </a:p>
        </p:txBody>
      </p:sp>
      <p:sp>
        <p:nvSpPr>
          <p:cNvPr id="13" name="화살표"/>
          <p:cNvSpPr/>
          <p:nvPr/>
        </p:nvSpPr>
        <p:spPr>
          <a:xfrm>
            <a:off x="4888472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4" name="흐름"/>
          <p:cNvSpPr/>
          <p:nvPr/>
        </p:nvSpPr>
        <p:spPr>
          <a:xfrm>
            <a:off x="5088472" y="1398448"/>
            <a:ext cx="20150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5" name="흐름번호"/>
          <p:cNvSpPr/>
          <p:nvPr/>
        </p:nvSpPr>
        <p:spPr>
          <a:xfrm>
            <a:off x="5088472" y="1488448"/>
            <a:ext cx="2015052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6" name="흐름글"/>
          <p:cNvSpPr/>
          <p:nvPr/>
        </p:nvSpPr>
        <p:spPr>
          <a:xfrm>
            <a:off x="5088472" y="1672768"/>
            <a:ext cx="2015052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요약 · 분류
실행</a:t>
            </a:r>
          </a:p>
        </p:txBody>
      </p:sp>
      <p:sp>
        <p:nvSpPr>
          <p:cNvPr id="17" name="화살표"/>
          <p:cNvSpPr/>
          <p:nvPr/>
        </p:nvSpPr>
        <p:spPr>
          <a:xfrm>
            <a:off x="7103524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8" name="흐름"/>
          <p:cNvSpPr/>
          <p:nvPr/>
        </p:nvSpPr>
        <p:spPr>
          <a:xfrm>
            <a:off x="7303524" y="1398448"/>
            <a:ext cx="20150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9" name="흐름번호"/>
          <p:cNvSpPr/>
          <p:nvPr/>
        </p:nvSpPr>
        <p:spPr>
          <a:xfrm>
            <a:off x="7303524" y="1488448"/>
            <a:ext cx="2015052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20" name="흐름글"/>
          <p:cNvSpPr/>
          <p:nvPr/>
        </p:nvSpPr>
        <p:spPr>
          <a:xfrm>
            <a:off x="7303524" y="1672768"/>
            <a:ext cx="2015052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목록 · 검색</a:t>
            </a:r>
          </a:p>
        </p:txBody>
      </p:sp>
      <p:sp>
        <p:nvSpPr>
          <p:cNvPr id="21" name="화살표"/>
          <p:cNvSpPr/>
          <p:nvPr/>
        </p:nvSpPr>
        <p:spPr>
          <a:xfrm>
            <a:off x="9318576" y="1665064"/>
            <a:ext cx="200000" cy="2000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22" name="흐름"/>
          <p:cNvSpPr/>
          <p:nvPr/>
        </p:nvSpPr>
        <p:spPr>
          <a:xfrm>
            <a:off x="9518576" y="1398448"/>
            <a:ext cx="201505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1E40AF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3" name="흐름번호"/>
          <p:cNvSpPr/>
          <p:nvPr/>
        </p:nvSpPr>
        <p:spPr>
          <a:xfrm>
            <a:off x="9518576" y="1488448"/>
            <a:ext cx="2015052" cy="1828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24" name="흐름글"/>
          <p:cNvSpPr/>
          <p:nvPr/>
        </p:nvSpPr>
        <p:spPr>
          <a:xfrm>
            <a:off x="9518576" y="1672768"/>
            <a:ext cx="2015052" cy="38404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요약 다운로드</a:t>
            </a:r>
          </a:p>
        </p:txBody>
      </p:sp>
      <p:sp>
        <p:nvSpPr>
          <p:cNvPr id="25" name="카드"/>
          <p:cNvSpPr/>
          <p:nvPr/>
        </p:nvSpPr>
        <p:spPr>
          <a:xfrm>
            <a:off x="658368" y="2441448"/>
            <a:ext cx="10875264" cy="178308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6" name="띠"/>
          <p:cNvSpPr/>
          <p:nvPr/>
        </p:nvSpPr>
        <p:spPr>
          <a:xfrm>
            <a:off x="658368" y="2441448"/>
            <a:ext cx="45720" cy="17830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27" name="카드글"/>
          <p:cNvSpPr/>
          <p:nvPr/>
        </p:nvSpPr>
        <p:spPr>
          <a:xfrm>
            <a:off x="788368" y="2571448"/>
            <a:ext cx="10595264" cy="152308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시연 진행 원칙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짧은 문서로 시연한다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공고문(HWPX) 처럼 글자 정보가 있는 문서는 수 초 안에 끝난다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OCR 이미지는 사전 업로드분으로 보여준다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이미지 문서는 1장당 약 13초가 걸려 실시간 시연에 맞지 않는다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OCR 엔진 비교는 사전 측정 결과를 쓴다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세 엔진 동시 실행은 CPU 를 한계까지 사용한다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네트워크가 끊기면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미리 녹화한 화면으로 대체한다 (AI 호출이 필요한 구간)</a:t>
            </a:r>
          </a:p>
        </p:txBody>
      </p:sp>
      <p:sp>
        <p:nvSpPr>
          <p:cNvPr id="28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검색은 '제안자' 와 '제 안 자' 를 나란히 입력해 같은 결과가 나오는 것을 보여준다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번호"/>
          <p:cNvSpPr/>
          <p:nvPr/>
        </p:nvSpPr>
        <p:spPr>
          <a:xfrm>
            <a:off x="658368" y="22860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600" b="1" dirty="0">
                <a:solidFill>
                  <a:srgbClr val="FFFFF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3566160"/>
            <a:ext cx="108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FFFFFF"/>
                </a:solidFill>
                <a:latin typeface="맑은 고딕"/>
                <a:ea typeface="맑은 고딕"/>
              </a:rPr>
              <a:t>프로젝트 수행 경과</a:t>
            </a:r>
          </a:p>
        </p:txBody>
      </p:sp>
      <p:sp>
        <p:nvSpPr>
          <p:cNvPr id="5" name="설명"/>
          <p:cNvSpPr/>
          <p:nvPr/>
        </p:nvSpPr>
        <p:spPr>
          <a:xfrm>
            <a:off x="658368" y="420624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무엇을 만들고 무엇에 막혔는가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04-1 PROGRESS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일정 및 진행 현황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658368" y="1298448"/>
          <a:ext cx="10875264" cy="238000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188720"/>
                <a:gridCol w="785774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산출물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소스코드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08-05 코드 프리즈. 이후 산출물 작업만 진행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화면정의서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6화면 · 요소 52개에 번호 대응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단위테스트결과서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66항목 전 항목 판정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통합테스트시나리오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진행중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44항목 중 34건 판정 · 잔여 10건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WBS · 이슈 · 결정사항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완료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작업 118행 · 이슈 46건 · 결정사항 29건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ERD · 운영 메뉴얼 · 완료 보고서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진행중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1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발표 전 마감 예정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카드"/>
          <p:cNvSpPr/>
          <p:nvPr/>
        </p:nvSpPr>
        <p:spPr>
          <a:xfrm>
            <a:off x="658368" y="3630168"/>
            <a:ext cx="10875264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띠"/>
          <p:cNvSpPr/>
          <p:nvPr/>
        </p:nvSpPr>
        <p:spPr>
          <a:xfrm>
            <a:off x="658368" y="3630168"/>
            <a:ext cx="45720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카드글"/>
          <p:cNvSpPr/>
          <p:nvPr/>
        </p:nvSpPr>
        <p:spPr>
          <a:xfrm>
            <a:off x="788368" y="3760168"/>
            <a:ext cx="10595264" cy="39836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일정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07-31 착수  →  08-05 코드 프리즈  →  08-06 산출물 마감  →  08-07 발표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주말 작업을 포함한 5.5일 일정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04-2 TROUBLESHOOTING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트러블슈팅 — 담당별 릴레이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이슈 46건 중 각자 대표 사례를 이어서 설명한다</a:t>
            </a:r>
          </a:p>
        </p:txBody>
      </p:sp>
      <p:sp>
        <p:nvSpPr>
          <p:cNvPr id="6" name="카드"/>
          <p:cNvSpPr/>
          <p:nvPr/>
        </p:nvSpPr>
        <p:spPr>
          <a:xfrm>
            <a:off x="658368" y="1298448"/>
            <a:ext cx="3465088" cy="2788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띠"/>
          <p:cNvSpPr/>
          <p:nvPr/>
        </p:nvSpPr>
        <p:spPr>
          <a:xfrm>
            <a:off x="658368" y="1298448"/>
            <a:ext cx="45720" cy="2788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카드글"/>
          <p:cNvSpPr/>
          <p:nvPr/>
        </p:nvSpPr>
        <p:spPr>
          <a:xfrm>
            <a:off x="788368" y="1428448"/>
            <a:ext cx="3185088" cy="25289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최재정 · 추출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자간이 넓은 공문서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'제 안 자' 가 세로로 쪼개져 검색 실패 → 줄 단위 좌표로 병합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표 인식 실패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간격으로 표를 나누려다 오판 → OpenCV 선 검출로 전환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2단 문서 순서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중앙 여백 판정 실패 → Recursive XY-Cut 적용</a:t>
            </a:r>
          </a:p>
        </p:txBody>
      </p:sp>
      <p:sp>
        <p:nvSpPr>
          <p:cNvPr id="9" name="카드"/>
          <p:cNvSpPr/>
          <p:nvPr/>
        </p:nvSpPr>
        <p:spPr>
          <a:xfrm>
            <a:off x="4363456" y="1298448"/>
            <a:ext cx="3465088" cy="2788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띠"/>
          <p:cNvSpPr/>
          <p:nvPr/>
        </p:nvSpPr>
        <p:spPr>
          <a:xfrm>
            <a:off x="4363456" y="1298448"/>
            <a:ext cx="45720" cy="2788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1" name="카드글"/>
          <p:cNvSpPr/>
          <p:nvPr/>
        </p:nvSpPr>
        <p:spPr>
          <a:xfrm>
            <a:off x="4493456" y="1428448"/>
            <a:ext cx="3185088" cy="25289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박세현 · 분석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응답 지연 2배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요약·분류 순차 실행 → asyncio.gather 병렬화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정확도 지표의 한계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엔진 자체 confidence 는 오탈자를 반영하지 못함 → 편집거리 방식으로 변경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메모리 영구 상주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캐시 해제로는 회수되지 않음을 실측 → 별도 프로세스로 격리</a:t>
            </a:r>
          </a:p>
        </p:txBody>
      </p:sp>
      <p:sp>
        <p:nvSpPr>
          <p:cNvPr id="12" name="카드"/>
          <p:cNvSpPr/>
          <p:nvPr/>
        </p:nvSpPr>
        <p:spPr>
          <a:xfrm>
            <a:off x="8068544" y="1298448"/>
            <a:ext cx="3465088" cy="2788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3" name="띠"/>
          <p:cNvSpPr/>
          <p:nvPr/>
        </p:nvSpPr>
        <p:spPr>
          <a:xfrm>
            <a:off x="8068544" y="1298448"/>
            <a:ext cx="45720" cy="2788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4" name="카드글"/>
          <p:cNvSpPr/>
          <p:nvPr/>
        </p:nvSpPr>
        <p:spPr>
          <a:xfrm>
            <a:off x="8198544" y="1428448"/>
            <a:ext cx="3185088" cy="25289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김보현 · 조회·협업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다운로드 줄바꿈 소실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응답 코드만 확인해 놓친 버그 → 검증 기준을 '결과 파일 열어 확인' 으로 변경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표 좌표계 불일치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두 브랜치가 서로 다른 좌표계를 전제 → 원본 기준으로 통일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main 직접 푸시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커밋 이력이 섞여 작업 주체 추적 불가 → 브랜치 규칙 복구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04-3 KEY LEARNING   ★ 핵심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측정으로 방향을 바꾼 사례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네 건 모두 '해봤더니 아니어서' 접근을 바꿨다 — 측정하지 않았으면 그대로 갔을 것이다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58368" y="1298448"/>
          <a:ext cx="10875264" cy="1700000"/>
        </p:xfrm>
        <a:graphic>
          <a:graphicData uri="http://schemas.openxmlformats.org/drawingml/2006/table">
            <a:tbl>
              <a:tblPr firstRow="1" bandRow="1"/>
              <a:tblGrid>
                <a:gridCol w="1737360"/>
                <a:gridCol w="2926080"/>
                <a:gridCol w="3383280"/>
                <a:gridCol w="282854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사례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처음 접근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측정 결과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바꾼 방향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표 영역 분리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글자 사이 간격으로 표와 본문을 구분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자간이 넓은 공문서에서 본문을 표로 오판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OpenCV 로 실제 선을 검출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2단 문서 순서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페이지 중앙의 세로 여백을 찾아 판정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여백이 일정하지 않은 문서에서 계속 실패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Recursive XY-Cut 알고리즘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EasyOCR 메모리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인프로세스 캐시를 해제하면 회수될 것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PyTorch 가 메모리를 OS 에 반환하지 않음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추론을 별도 프로세스로 격리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자동 전처리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품질을 분석해 필요한 전처리만 적용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글자 수 +2.3% 인데 처리 시간 3배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문서 종류별 임계값 분리로 이관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카드"/>
          <p:cNvSpPr/>
          <p:nvPr/>
        </p:nvSpPr>
        <p:spPr>
          <a:xfrm>
            <a:off x="658368" y="3584448"/>
            <a:ext cx="10875264" cy="713232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8" name="띠"/>
          <p:cNvSpPr/>
          <p:nvPr/>
        </p:nvSpPr>
        <p:spPr>
          <a:xfrm>
            <a:off x="658368" y="3584448"/>
            <a:ext cx="45720" cy="7132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카드글"/>
          <p:cNvSpPr/>
          <p:nvPr/>
        </p:nvSpPr>
        <p:spPr>
          <a:xfrm>
            <a:off x="788368" y="3714448"/>
            <a:ext cx="10595264" cy="453232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100" b="1" dirty="0">
                <a:solidFill>
                  <a:srgbClr val="1E40AF"/>
                </a:solidFill>
                <a:latin typeface="맑은 고딕"/>
                <a:ea typeface="맑은 고딕"/>
              </a:rPr>
              <a:t/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배운 것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빠른 방법이 옳은 방법은 아니다. 간격·여백 같은 간접 신호로 판단하려 한 두 시도는 모두 실패했고, 실제로 그려진 선과 재귀 분할처럼 근거가 분명한 방식으로 바꾼 뒤에 해결됐다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04-4 TEST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테스트 결과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카드"/>
          <p:cNvSpPr/>
          <p:nvPr/>
        </p:nvSpPr>
        <p:spPr>
          <a:xfrm>
            <a:off x="658368" y="1298448"/>
            <a:ext cx="5287632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6" name="띠"/>
          <p:cNvSpPr/>
          <p:nvPr/>
        </p:nvSpPr>
        <p:spPr>
          <a:xfrm>
            <a:off x="658368" y="1298448"/>
            <a:ext cx="45720" cy="1371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카드글"/>
          <p:cNvSpPr/>
          <p:nvPr/>
        </p:nvSpPr>
        <p:spPr>
          <a:xfrm>
            <a:off x="788368" y="1428448"/>
            <a:ext cx="5007632" cy="11116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단위 테스트 — 화면 흐름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66항목 · 전 항목 판정 완료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업로드 11 · 추출 9 · 분석 9 · 목록 11 · 상세 8 · 다운로드 5 · 삭제 5 · 비교 4 · 환경 4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</a:t>
            </a:r>
          </a:p>
        </p:txBody>
      </p:sp>
      <p:sp>
        <p:nvSpPr>
          <p:cNvPr id="8" name="카드"/>
          <p:cNvSpPr/>
          <p:nvPr/>
        </p:nvSpPr>
        <p:spPr>
          <a:xfrm>
            <a:off x="6246000" y="1298448"/>
            <a:ext cx="5287632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띠"/>
          <p:cNvSpPr/>
          <p:nvPr/>
        </p:nvSpPr>
        <p:spPr>
          <a:xfrm>
            <a:off x="6246000" y="1298448"/>
            <a:ext cx="45720" cy="1371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카드글"/>
          <p:cNvSpPr/>
          <p:nvPr/>
        </p:nvSpPr>
        <p:spPr>
          <a:xfrm>
            <a:off x="6376000" y="1428448"/>
            <a:ext cx="5007632" cy="11116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통합 테스트 — 기능 연동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44항목 · 34건 판정 · 잔여 10건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업로드·추출 / AI 분석 / 조회·검색 / 다운로드 / 삭제 / 엔진 비교 / 오류 일관성 / 실행 환경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</a:t>
            </a:r>
          </a:p>
        </p:txBody>
      </p:sp>
      <p:sp>
        <p:nvSpPr>
          <p:cNvPr id="11" name="카드"/>
          <p:cNvSpPr/>
          <p:nvPr/>
        </p:nvSpPr>
        <p:spPr>
          <a:xfrm>
            <a:off x="658368" y="2898648"/>
            <a:ext cx="10875264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2" name="띠"/>
          <p:cNvSpPr/>
          <p:nvPr/>
        </p:nvSpPr>
        <p:spPr>
          <a:xfrm>
            <a:off x="658368" y="2898648"/>
            <a:ext cx="45720" cy="13716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3" name="카드글"/>
          <p:cNvSpPr/>
          <p:nvPr/>
        </p:nvSpPr>
        <p:spPr>
          <a:xfrm>
            <a:off x="788368" y="3028648"/>
            <a:ext cx="10595264" cy="111160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테스트가 잡아낸 결함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현상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오류 응답의 request_id 로 서버 로그를 찾을 수 없었다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원인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비즈니스 오류 처리기에 로그 호출이 없어 404 · 409 · 413 이 로그에 남지 않는다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판단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코드 프리즈 이후에 발견해 고치지 않고 결함으로 기록했다. request_id 전달 자체는 정상이므로 로깅만 보완하면 해결된다</a:t>
            </a:r>
          </a:p>
        </p:txBody>
      </p:sp>
      <p:sp>
        <p:nvSpPr>
          <p:cNvPr id="14" name="각주"/>
          <p:cNvSpPr/>
          <p:nvPr/>
        </p:nvSpPr>
        <p:spPr>
          <a:xfrm>
            <a:off x="658368" y="6291072"/>
            <a:ext cx="10875264" cy="2743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dirty="0">
                <a:solidFill>
                  <a:srgbClr val="6B7280"/>
                </a:solidFill>
                <a:latin typeface="맑은 고딕"/>
                <a:ea typeface="맑은 고딕"/>
              </a:rPr>
              <a:t>에러 코드 11종 중 7종을 실제로 발생시켜 확인했다 · 잔여 4종은 발표 전 확인 예정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번호"/>
          <p:cNvSpPr/>
          <p:nvPr/>
        </p:nvSpPr>
        <p:spPr>
          <a:xfrm>
            <a:off x="658368" y="2286000"/>
            <a:ext cx="2011680" cy="128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600" b="1" dirty="0">
                <a:solidFill>
                  <a:srgbClr val="FFFFFF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제목"/>
          <p:cNvSpPr/>
          <p:nvPr/>
        </p:nvSpPr>
        <p:spPr>
          <a:xfrm>
            <a:off x="658368" y="3566160"/>
            <a:ext cx="10875264" cy="5486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3200" b="1" dirty="0">
                <a:solidFill>
                  <a:srgbClr val="FFFFFF"/>
                </a:solidFill>
                <a:latin typeface="맑은 고딕"/>
                <a:ea typeface="맑은 고딕"/>
              </a:rPr>
              <a:t>자체 평가 의견</a:t>
            </a:r>
          </a:p>
        </p:txBody>
      </p:sp>
      <p:sp>
        <p:nvSpPr>
          <p:cNvPr id="5" name="설명"/>
          <p:cNvSpPr/>
          <p:nvPr/>
        </p:nvSpPr>
        <p:spPr>
          <a:xfrm>
            <a:off x="658368" y="420624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무엇을 얻고 무엇이 남았는가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05-1 SELF ASSESSMENT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성과와 한계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카드"/>
          <p:cNvSpPr/>
          <p:nvPr/>
        </p:nvSpPr>
        <p:spPr>
          <a:xfrm>
            <a:off x="658368" y="1298448"/>
            <a:ext cx="5287632" cy="2788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6" name="띠"/>
          <p:cNvSpPr/>
          <p:nvPr/>
        </p:nvSpPr>
        <p:spPr>
          <a:xfrm>
            <a:off x="658368" y="1298448"/>
            <a:ext cx="45720" cy="2788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7" name="카드글"/>
          <p:cNvSpPr/>
          <p:nvPr/>
        </p:nvSpPr>
        <p:spPr>
          <a:xfrm>
            <a:off x="788368" y="1428448"/>
            <a:ext cx="5007632" cy="25289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잘된 점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확장 지점을 미리 뚫었다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추출기 · 분석기 · AI 제공자를 등록만으로 교체 가능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Fake 구현체로 병렬 개발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AI 키 없이도 화면과 조회를 동시에 진행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판단 근거를 남겼다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이슈 46건 · 결정사항 29건에 미채택 대안까지 기록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측정으로 결론을 뒤집었다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네 건의 접근을 실측 결과에 따라 바꿨다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인터페이스로 경계를 지켰다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다른 담당자의 대규모 수정에도 좌표 계약이 유지됨</a:t>
            </a:r>
          </a:p>
        </p:txBody>
      </p:sp>
      <p:sp>
        <p:nvSpPr>
          <p:cNvPr id="8" name="카드"/>
          <p:cNvSpPr/>
          <p:nvPr/>
        </p:nvSpPr>
        <p:spPr>
          <a:xfrm>
            <a:off x="6246000" y="1298448"/>
            <a:ext cx="5287632" cy="2788920"/>
          </a:xfrm>
          <a:prstGeom prst="rect">
            <a:avLst/>
          </a:prstGeom>
          <a:solidFill>
            <a:srgbClr val="F8FAFC"/>
          </a:solidFill>
          <a:ln w="6350">
            <a:solidFill>
              <a:srgbClr val="E5E7EB"/>
            </a:solidFill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9" name="띠"/>
          <p:cNvSpPr/>
          <p:nvPr/>
        </p:nvSpPr>
        <p:spPr>
          <a:xfrm>
            <a:off x="6246000" y="1298448"/>
            <a:ext cx="45720" cy="27889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10" name="카드글"/>
          <p:cNvSpPr/>
          <p:nvPr/>
        </p:nvSpPr>
        <p:spPr>
          <a:xfrm>
            <a:off x="6376000" y="1428448"/>
            <a:ext cx="5007632" cy="25289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500"/>
              </a:spcAft>
              <a:buNone/>
            </a:pPr>
            <a:r>
              <a:rPr lang="ko-KR" sz="1500" b="1" dirty="0">
                <a:solidFill>
                  <a:srgbClr val="1E40AF"/>
                </a:solidFill>
                <a:latin typeface="맑은 고딕"/>
                <a:ea typeface="맑은 고딕"/>
              </a:rPr>
              <a:t>아쉬운 점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이미지 문서 처리 시간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이미지 1장당 약 13초 — 12페이지 문서는 55초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정답 데이터 기반 측정 미완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기능은 만들었으나 정답 파일을 확보하지 못해 실제 정확도 미산출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규칙을 겪은 뒤에 만들었다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Docker 3중 작업 · main 직접 푸시 등은 사전 합의로 막을 수 있었다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조회 쿼리 최적화 미착수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문서 20건 조회에 41개 쿼리가 발생함을 알고도 개선하지 못했다</a:t>
            </a:r>
          </a:p>
          <a:p>
            <a:pPr algn="l" marL="0" indent="0">
              <a:lnSpc>
                <a:spcPct val="105000"/>
              </a:lnSpc>
              <a:spcAft>
                <a:spcPts val="260"/>
              </a:spcAft>
              <a:buNone/>
            </a:pPr>
            <a:r>
              <a:rPr lang="ko-KR" sz="1100" b="1" dirty="0">
                <a:solidFill>
                  <a:srgbClr val="1F2937"/>
                </a:solidFill>
                <a:latin typeface="맑은 고딕"/>
                <a:ea typeface="맑은 고딕"/>
              </a:rPr>
              <a:t>구형 HWP 미지원</a:t>
            </a: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  바이너리 형식은 안내 처리로만 대응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눈썹"/>
          <p:cNvSpPr/>
          <p:nvPr/>
        </p:nvSpPr>
        <p:spPr>
          <a:xfrm>
            <a:off x="658368" y="274320"/>
            <a:ext cx="10875264" cy="21945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950" b="1" dirty="0">
                <a:solidFill>
                  <a:srgbClr val="3B82F6"/>
                </a:solidFill>
                <a:latin typeface="맑은 고딕"/>
                <a:ea typeface="맑은 고딕"/>
              </a:rPr>
              <a:t>05-2 NEXT   ★ 추천 추가 슬라이드</a:t>
            </a:r>
          </a:p>
        </p:txBody>
      </p:sp>
      <p:sp>
        <p:nvSpPr>
          <p:cNvPr id="3" name="제목"/>
          <p:cNvSpPr/>
          <p:nvPr/>
        </p:nvSpPr>
        <p:spPr>
          <a:xfrm>
            <a:off x="658368" y="475488"/>
            <a:ext cx="10875264" cy="566928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2800" b="1" dirty="0">
                <a:solidFill>
                  <a:srgbClr val="1F2937"/>
                </a:solidFill>
                <a:latin typeface="맑은 고딕"/>
                <a:ea typeface="맑은 고딕"/>
              </a:rPr>
              <a:t>향후 과제와 본프로젝트 연결</a:t>
            </a:r>
          </a:p>
        </p:txBody>
      </p:sp>
      <p:sp>
        <p:nvSpPr>
          <p:cNvPr id="4" name="밑줄"/>
          <p:cNvSpPr/>
          <p:nvPr/>
        </p:nvSpPr>
        <p:spPr>
          <a:xfrm>
            <a:off x="658368" y="1078992"/>
            <a:ext cx="566928" cy="228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보조"/>
          <p:cNvSpPr/>
          <p:nvPr/>
        </p:nvSpPr>
        <p:spPr>
          <a:xfrm>
            <a:off x="658368" y="1133856"/>
            <a:ext cx="10875264" cy="237744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l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6B7280"/>
                </a:solidFill>
                <a:latin typeface="맑은 고딕"/>
                <a:ea typeface="맑은 고딕"/>
              </a:rPr>
              <a:t>미니프로젝트에서 확인한 한계를 그대로 본프로젝트 과제로 옮긴다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58368" y="1298448"/>
          <a:ext cx="10875264" cy="2380000"/>
        </p:xfrm>
        <a:graphic>
          <a:graphicData uri="http://schemas.openxmlformats.org/drawingml/2006/table">
            <a:tbl>
              <a:tblPr firstRow="1" bandRow="1"/>
              <a:tblGrid>
                <a:gridCol w="2286000"/>
                <a:gridCol w="3931920"/>
                <a:gridCol w="4657344"/>
              </a:tblGrid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과제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지금 상태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본프로젝트에서 할 일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1E40A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OCR 처리 시간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이미지 1장당 약 13초 · 개선 시도 2건 모두 기각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비동기 처리와 진행률 표시 · 이미지 단위 병렬화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전처리 임계값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자동 선택이 스크린샷에 과하게 적용돼 시간 3배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문서 종류별 임계값 분리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정확도 측정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 데이터 기반 기능은 구현 · 실측 미완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정답 데이터 축적 후 엔진 재평가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조회 성능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문서 20건에 41개 쿼리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벌크 조회로 전환하고 개선 전후 수치 제시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인증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삽입 지점만 확보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로그인 · 권한 · 문서 소유자 구분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0000"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오류 추적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비즈니스 오류가 서버 로그에 남지 않음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anchor="ctr" lIns="72000" rIns="72000" tIns="36000" bIns="36000"/>
                    <a:lstStyle/>
                    <a:p>
                      <a:pPr algn="l" marL="0" indent="0">
                        <a:lnSpc>
                          <a:spcPct val="9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ko-KR" sz="1050" dirty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</a:rPr>
                        <a:t>로깅 보완 후 request_id 기반 추적 완성</a:t>
                      </a:r>
                    </a:p>
                  </a:txBody>
                  <a:tcPr marL="72000" marR="72000" anchor="ctr">
                    <a:lnB w="6350">
                      <a:solidFill>
                        <a:srgbClr val="E5E7EB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배경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3" name="제목"/>
          <p:cNvSpPr/>
          <p:nvPr/>
        </p:nvSpPr>
        <p:spPr>
          <a:xfrm>
            <a:off x="658368" y="2468880"/>
            <a:ext cx="10875264" cy="8229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감사합니다</a:t>
            </a:r>
          </a:p>
        </p:txBody>
      </p:sp>
      <p:sp>
        <p:nvSpPr>
          <p:cNvPr id="4" name="선"/>
          <p:cNvSpPr/>
          <p:nvPr/>
        </p:nvSpPr>
        <p:spPr>
          <a:xfrm>
            <a:off x="5547360" y="3429000"/>
            <a:ext cx="1097280" cy="2286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txBody>
          <a:bodyPr anchor="t" lIns="91440" rIns="91440" tIns="45720" bIns="45720" wrap="square">
            <a:normAutofit/>
          </a:bodyPr>
          <a:lstStyle/>
        </p:txBody>
      </p:sp>
      <p:sp>
        <p:nvSpPr>
          <p:cNvPr id="5" name="부제"/>
          <p:cNvSpPr/>
          <p:nvPr/>
        </p:nvSpPr>
        <p:spPr>
          <a:xfrm>
            <a:off x="658368" y="3703320"/>
            <a:ext cx="10875264" cy="3657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400" dirty="0">
                <a:solidFill>
                  <a:srgbClr val="BFDBFE"/>
                </a:solidFill>
                <a:latin typeface="맑은 고딕"/>
                <a:ea typeface="맑은 고딕"/>
              </a:rPr>
              <a:t>PDF Brief AI  ·  김보현 · 최재정 · 박세현</a:t>
            </a:r>
          </a:p>
        </p:txBody>
      </p:sp>
      <p:sp>
        <p:nvSpPr>
          <p:cNvPr id="6" name="링크"/>
          <p:cNvSpPr/>
          <p:nvPr/>
        </p:nvSpPr>
        <p:spPr>
          <a:xfrm>
            <a:off x="658368" y="4160520"/>
            <a:ext cx="10875264" cy="310896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45720" bIns="45720" wrap="square">
            <a:normAutofit/>
          </a:bodyPr>
          <a:lstStyle/>
          <a:p>
            <a:pPr algn="ctr"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ko-KR" sz="1100" dirty="0">
                <a:solidFill>
                  <a:srgbClr val="93C5FD"/>
                </a:solidFill>
                <a:latin typeface="맑은 고딕"/>
                <a:ea typeface="맑은 고딕"/>
              </a:rPr>
              <a:t>github.com/ParkSehyeon1009/OCR_MiniProject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DF Brief AI">
  <a:themeElements>
    <a:clrScheme name="기본">
      <a:dk1>
        <a:srgbClr val="1F2937"/>
      </a:dk1>
      <a:lt1>
        <a:srgbClr val="FFFFFF"/>
      </a:lt1>
      <a:dk2>
        <a:srgbClr val="1E40AF"/>
      </a:dk2>
      <a:lt2>
        <a:srgbClr val="F8FAFC"/>
      </a:lt2>
      <a:accent1>
        <a:srgbClr val="1E40AF"/>
      </a:accent1>
      <a:accent2>
        <a:srgbClr val="3B82F6"/>
      </a:accent2>
      <a:accent3>
        <a:srgbClr val="6B7280"/>
      </a:accent3>
      <a:accent4>
        <a:srgbClr val="E5E7EB"/>
      </a:accent4>
      <a:accent5>
        <a:srgbClr val="16A34A"/>
      </a:accent5>
      <a:accent6>
        <a:srgbClr val="DC2626"/>
      </a:accent6>
      <a:hlink>
        <a:srgbClr val="1E40AF"/>
      </a:hlink>
      <a:folHlink>
        <a:srgbClr val="6B7280"/>
      </a:folHlink>
    </a:clrScheme>
    <a:fontScheme name="기본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기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PDF Brief AI 발표자료</dc:title>
  <dc:creator>김보현</dc:creator>
</cp:coreProperties>
</file>