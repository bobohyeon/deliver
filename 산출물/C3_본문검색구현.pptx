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2800" b="1">
          <a:solidFill>
            <a:srgbClr val="1F2937"/>
          </a:solidFill>
          <a:latin typeface="맑은 고딕"/>
          <a:ea typeface="맑은 고딕"/>
        </a:defRPr>
      </a:lvl1pPr>
    </p:titleStyle>
    <p:bodyStyle>
      <a:lvl1pPr>
        <a:defRPr sz="1400">
          <a:solidFill>
            <a:srgbClr val="1F2937"/>
          </a:solidFill>
          <a:latin typeface="맑은 고딕"/>
          <a:ea typeface="맑은 고딕"/>
        </a:defRPr>
      </a:lvl1pPr>
    </p:bodyStyle>
    <p:otherStyle>
      <a:lvl1pPr>
        <a:defRPr sz="1400">
          <a:solidFill>
            <a:srgbClr val="1F2937"/>
          </a:solidFill>
          <a:latin typeface="맑은 고딕"/>
          <a:ea typeface="맑은 고딕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글"/>
          <p:cNvSpPr/>
          <p:nvPr/>
        </p:nvSpPr>
        <p:spPr>
          <a:xfrm>
            <a:off x="685800" y="402336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3200" b="1" dirty="0">
                <a:solidFill>
                  <a:srgbClr val="000000"/>
                </a:solidFill>
                <a:latin typeface="맑은 고딕"/>
                <a:ea typeface="맑은 고딕"/>
              </a:rPr>
              <a:t>본문 검색 구현</a:t>
            </a:r>
          </a:p>
        </p:txBody>
      </p:sp>
      <p:sp>
        <p:nvSpPr>
          <p:cNvPr id="3" name="글"/>
          <p:cNvSpPr/>
          <p:nvPr/>
        </p:nvSpPr>
        <p:spPr>
          <a:xfrm>
            <a:off x="8138160" y="548640"/>
            <a:ext cx="3364992" cy="274320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lstStyle/>
          <a:p>
            <a:pPr algn="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dirty="0">
                <a:solidFill>
                  <a:srgbClr val="8C8C8C"/>
                </a:solidFill>
                <a:latin typeface="맑은 고딕"/>
                <a:ea typeface="맑은 고딕"/>
              </a:rPr>
              <a:t>PDF Brief AI</a:t>
            </a:r>
          </a:p>
        </p:txBody>
      </p:sp>
      <p:sp>
        <p:nvSpPr>
          <p:cNvPr id="4" name="면"/>
          <p:cNvSpPr/>
          <p:nvPr/>
        </p:nvSpPr>
        <p:spPr>
          <a:xfrm>
            <a:off x="685800" y="1097280"/>
            <a:ext cx="10817352" cy="1005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글"/>
          <p:cNvSpPr/>
          <p:nvPr/>
        </p:nvSpPr>
        <p:spPr>
          <a:xfrm>
            <a:off x="685800" y="1298448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50" b="1" dirty="0">
                <a:solidFill>
                  <a:srgbClr val="000000"/>
                </a:solidFill>
                <a:latin typeface="맑은 고딕"/>
                <a:ea typeface="맑은 고딕"/>
              </a:rPr>
              <a:t>적용 전  </a:t>
            </a:r>
            <a:r>
              <a:rPr lang="ko-KR" sz="1050" dirty="0">
                <a:solidFill>
                  <a:srgbClr val="595959"/>
                </a:solidFill>
                <a:latin typeface="맑은 고딕"/>
                <a:ea typeface="맑은 고딕"/>
              </a:rPr>
              <a:t>저장된 값을 그대로 비교했다</a:t>
            </a:r>
          </a:p>
        </p:txBody>
      </p:sp>
      <p:sp>
        <p:nvSpPr>
          <p:cNvPr id="6" name="상자"/>
          <p:cNvSpPr/>
          <p:nvPr/>
        </p:nvSpPr>
        <p:spPr>
          <a:xfrm>
            <a:off x="685800" y="1554480"/>
            <a:ext cx="5486400" cy="21945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anchor="ctr" lIns="72000" rIns="72000" tIns="36000" bIns="3600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000" dirty="0">
                <a:solidFill>
                  <a:srgbClr val="8C8C8C"/>
                </a:solidFill>
                <a:latin typeface="맑은 고딕"/>
                <a:ea typeface="맑은 고딕"/>
              </a:rPr>
              <a:t>검색 화면 캡처 — 적용 전</a:t>
            </a:r>
          </a:p>
        </p:txBody>
      </p:sp>
      <p:sp>
        <p:nvSpPr>
          <p:cNvPr id="7" name="글"/>
          <p:cNvSpPr/>
          <p:nvPr/>
        </p:nvSpPr>
        <p:spPr>
          <a:xfrm>
            <a:off x="685800" y="3913632"/>
            <a:ext cx="5486400" cy="23774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50" b="1" dirty="0">
                <a:solidFill>
                  <a:srgbClr val="000000"/>
                </a:solidFill>
                <a:latin typeface="맑은 고딕"/>
                <a:ea typeface="맑은 고딕"/>
              </a:rPr>
              <a:t>적용 후  </a:t>
            </a:r>
            <a:r>
              <a:rPr lang="ko-KR" sz="1050" dirty="0">
                <a:solidFill>
                  <a:srgbClr val="595959"/>
                </a:solidFill>
                <a:latin typeface="맑은 고딕"/>
                <a:ea typeface="맑은 고딕"/>
              </a:rPr>
              <a:t>공백을 지운 뒤 비교한다</a:t>
            </a:r>
          </a:p>
        </p:txBody>
      </p:sp>
      <p:sp>
        <p:nvSpPr>
          <p:cNvPr id="8" name="상자"/>
          <p:cNvSpPr/>
          <p:nvPr/>
        </p:nvSpPr>
        <p:spPr>
          <a:xfrm>
            <a:off x="685800" y="4169664"/>
            <a:ext cx="5486400" cy="219456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txBody>
          <a:bodyPr anchor="ctr" lIns="72000" rIns="72000" tIns="36000" bIns="3600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000" dirty="0">
                <a:solidFill>
                  <a:srgbClr val="8C8C8C"/>
                </a:solidFill>
                <a:latin typeface="맑은 고딕"/>
                <a:ea typeface="맑은 고딕"/>
              </a:rPr>
              <a:t>검색 화면 캡처 — 적용 후</a:t>
            </a:r>
          </a:p>
        </p:txBody>
      </p:sp>
      <p:sp>
        <p:nvSpPr>
          <p:cNvPr id="9" name="면"/>
          <p:cNvSpPr/>
          <p:nvPr/>
        </p:nvSpPr>
        <p:spPr>
          <a:xfrm>
            <a:off x="6492240" y="1581912"/>
            <a:ext cx="32004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글"/>
          <p:cNvSpPr/>
          <p:nvPr/>
        </p:nvSpPr>
        <p:spPr>
          <a:xfrm>
            <a:off x="6702552" y="1554480"/>
            <a:ext cx="4800600" cy="960120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A1A1A"/>
                </a:solidFill>
                <a:latin typeface="맑은 고딕"/>
                <a:ea typeface="맑은 고딕"/>
              </a:rPr>
              <a:t>같은 검색어인데 결과가 달라진다</a:t>
            </a:r>
          </a:p>
          <a:p>
            <a:pPr algn="l" marL="0" indent="0">
              <a:lnSpc>
                <a:spcPct val="118000"/>
              </a:lnSpc>
              <a:spcAft>
                <a:spcPts val="0"/>
              </a:spcAft>
              <a:buNone/>
            </a:pPr>
            <a:r>
              <a:rPr lang="ko-KR" sz="1200" dirty="0">
                <a:solidFill>
                  <a:srgbClr val="595959"/>
                </a:solidFill>
                <a:latin typeface="맑은 고딕"/>
                <a:ea typeface="맑은 고딕"/>
              </a:rPr>
              <a:t>두 화면 모두 "제안자" 로 조회한 것이다</a:t>
            </a:r>
          </a:p>
        </p:txBody>
      </p:sp>
      <p:sp>
        <p:nvSpPr>
          <p:cNvPr id="11" name="면"/>
          <p:cNvSpPr/>
          <p:nvPr/>
        </p:nvSpPr>
        <p:spPr>
          <a:xfrm>
            <a:off x="6492240" y="2697480"/>
            <a:ext cx="32004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글"/>
          <p:cNvSpPr/>
          <p:nvPr/>
        </p:nvSpPr>
        <p:spPr>
          <a:xfrm>
            <a:off x="6702552" y="2670048"/>
            <a:ext cx="4800600" cy="960120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A1A1A"/>
                </a:solidFill>
                <a:latin typeface="맑은 고딕"/>
                <a:ea typeface="맑은 고딕"/>
              </a:rPr>
              <a:t>왜 못 찾았나</a:t>
            </a:r>
          </a:p>
          <a:p>
            <a:pPr algn="l" marL="0" indent="0">
              <a:lnSpc>
                <a:spcPct val="118000"/>
              </a:lnSpc>
              <a:spcAft>
                <a:spcPts val="0"/>
              </a:spcAft>
              <a:buNone/>
            </a:pPr>
            <a:r>
              <a:rPr lang="ko-KR" sz="1200" dirty="0">
                <a:solidFill>
                  <a:srgbClr val="595959"/>
                </a:solidFill>
                <a:latin typeface="맑은 고딕"/>
                <a:ea typeface="맑은 고딕"/>
              </a:rPr>
              <a:t>자간이 넓은 공문서는 추출 결과에 "제 안 자" 처럼 공백이 섞인다</a:t>
            </a:r>
          </a:p>
        </p:txBody>
      </p:sp>
      <p:sp>
        <p:nvSpPr>
          <p:cNvPr id="13" name="면"/>
          <p:cNvSpPr/>
          <p:nvPr/>
        </p:nvSpPr>
        <p:spPr>
          <a:xfrm>
            <a:off x="6492240" y="3813048"/>
            <a:ext cx="32004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글"/>
          <p:cNvSpPr/>
          <p:nvPr/>
        </p:nvSpPr>
        <p:spPr>
          <a:xfrm>
            <a:off x="6702552" y="3785616"/>
            <a:ext cx="4800600" cy="960120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A1A1A"/>
                </a:solidFill>
                <a:latin typeface="맑은 고딕"/>
                <a:ea typeface="맑은 고딕"/>
              </a:rPr>
              <a:t>어떻게 고쳤나</a:t>
            </a:r>
          </a:p>
          <a:p>
            <a:pPr algn="l" marL="0" indent="0">
              <a:lnSpc>
                <a:spcPct val="118000"/>
              </a:lnSpc>
              <a:spcAft>
                <a:spcPts val="0"/>
              </a:spcAft>
              <a:buNone/>
            </a:pPr>
            <a:r>
              <a:rPr lang="ko-KR" sz="1200" dirty="0">
                <a:solidFill>
                  <a:srgbClr val="595959"/>
                </a:solidFill>
                <a:latin typeface="맑은 고딕"/>
                <a:ea typeface="맑은 고딕"/>
              </a:rPr>
              <a:t>검색어와 저장값 양쪽에서 공백을 지운 뒤 비교한다</a:t>
            </a:r>
          </a:p>
        </p:txBody>
      </p:sp>
      <p:sp>
        <p:nvSpPr>
          <p:cNvPr id="15" name="면"/>
          <p:cNvSpPr/>
          <p:nvPr/>
        </p:nvSpPr>
        <p:spPr>
          <a:xfrm>
            <a:off x="6492240" y="4928616"/>
            <a:ext cx="32004" cy="56692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글"/>
          <p:cNvSpPr/>
          <p:nvPr/>
        </p:nvSpPr>
        <p:spPr>
          <a:xfrm>
            <a:off x="6702552" y="4901184"/>
            <a:ext cx="4800600" cy="960120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A1A1A"/>
                </a:solidFill>
                <a:latin typeface="맑은 고딕"/>
                <a:ea typeface="맑은 고딕"/>
              </a:rPr>
              <a:t>함께 처리한 것</a:t>
            </a:r>
          </a:p>
          <a:p>
            <a:pPr algn="l" marL="0" indent="0">
              <a:lnSpc>
                <a:spcPct val="118000"/>
              </a:lnSpc>
              <a:spcAft>
                <a:spcPts val="0"/>
              </a:spcAft>
              <a:buNone/>
            </a:pPr>
            <a:r>
              <a:rPr lang="ko-KR" sz="1200" dirty="0">
                <a:solidFill>
                  <a:srgbClr val="595959"/>
                </a:solidFill>
                <a:latin typeface="맑은 고딕"/>
                <a:ea typeface="맑은 고딕"/>
              </a:rPr>
              <a:t>파일명과 본문을 같이 검색하고, JOIN 대신 서브쿼리로 중복 행을 막는다</a:t>
            </a:r>
          </a:p>
        </p:txBody>
      </p:sp>
      <p:sp>
        <p:nvSpPr>
          <p:cNvPr id="17" name="면"/>
          <p:cNvSpPr/>
          <p:nvPr/>
        </p:nvSpPr>
        <p:spPr>
          <a:xfrm>
            <a:off x="685800" y="5961888"/>
            <a:ext cx="10817352" cy="6401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글"/>
          <p:cNvSpPr/>
          <p:nvPr/>
        </p:nvSpPr>
        <p:spPr>
          <a:xfrm>
            <a:off x="685800" y="6089904"/>
            <a:ext cx="10817352" cy="420624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000" b="1" dirty="0">
                <a:solidFill>
                  <a:srgbClr val="000000"/>
                </a:solidFill>
                <a:latin typeface="맑은 고딕"/>
                <a:ea typeface="맑은 고딕"/>
              </a:rPr>
              <a:t>같은 일을 두 곳에서  </a:t>
            </a:r>
            <a:r>
              <a:rPr lang="ko-KR" sz="1000" dirty="0">
                <a:solidFill>
                  <a:srgbClr val="595959"/>
                </a:solidFill>
                <a:latin typeface="맑은 고딕"/>
                <a:ea typeface="맑은 고딕"/>
              </a:rPr>
              <a:t>검색어는 앱에서 re.sub 로, 저장된 본문은 DB에서 regexp_replace 로 공백을 지운다. 공백만 입력한 경우에는 조건을 걸지 않아 전체 조회로 새지 않게 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DF Brief AI">
  <a:themeElements>
    <a:clrScheme name="기본">
      <a:dk1>
        <a:srgbClr val="1F2937"/>
      </a:dk1>
      <a:lt1>
        <a:srgbClr val="FFFFFF"/>
      </a:lt1>
      <a:dk2>
        <a:srgbClr val="1E40AF"/>
      </a:dk2>
      <a:lt2>
        <a:srgbClr val="F8FAFC"/>
      </a:lt2>
      <a:accent1>
        <a:srgbClr val="1E40AF"/>
      </a:accent1>
      <a:accent2>
        <a:srgbClr val="3B82F6"/>
      </a:accent2>
      <a:accent3>
        <a:srgbClr val="6B7280"/>
      </a:accent3>
      <a:accent4>
        <a:srgbClr val="E5E7EB"/>
      </a:accent4>
      <a:accent5>
        <a:srgbClr val="16A34A"/>
      </a:accent5>
      <a:accent6>
        <a:srgbClr val="DC2626"/>
      </a:accent6>
      <a:hlink>
        <a:srgbClr val="1E40AF"/>
      </a:hlink>
      <a:folHlink>
        <a:srgbClr val="6B7280"/>
      </a:folHlink>
    </a:clrScheme>
    <a:fontScheme name="기본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기본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본문 검색 구현</dc:title>
  <dc:creator>김보현</dc:creator>
</cp:coreProperties>
</file>