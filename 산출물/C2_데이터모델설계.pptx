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 b="1">
          <a:solidFill>
            <a:srgbClr val="1F2937"/>
          </a:solidFill>
          <a:latin typeface="맑은 고딕"/>
          <a:ea typeface="맑은 고딕"/>
        </a:defRPr>
      </a:lvl1pPr>
    </p:titleStyle>
    <p:bodyStyle>
      <a:lvl1pPr>
        <a:defRPr sz="1400">
          <a:solidFill>
            <a:srgbClr val="1F2937"/>
          </a:solidFill>
          <a:latin typeface="맑은 고딕"/>
          <a:ea typeface="맑은 고딕"/>
        </a:defRPr>
      </a:lvl1pPr>
    </p:bodyStyle>
    <p:otherStyle>
      <a:lvl1pPr>
        <a:defRPr sz="1400">
          <a:solidFill>
            <a:srgbClr val="1F2937"/>
          </a:solidFill>
          <a:latin typeface="맑은 고딕"/>
          <a:ea typeface="맑은 고딕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글"/>
          <p:cNvSpPr/>
          <p:nvPr/>
        </p:nvSpPr>
        <p:spPr>
          <a:xfrm>
            <a:off x="685800" y="402336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000000"/>
                </a:solidFill>
                <a:latin typeface="맑은 고딕"/>
                <a:ea typeface="맑은 고딕"/>
              </a:rPr>
              <a:t>데이터 모델 설계</a:t>
            </a:r>
          </a:p>
        </p:txBody>
      </p:sp>
      <p:sp>
        <p:nvSpPr>
          <p:cNvPr id="3" name="글"/>
          <p:cNvSpPr/>
          <p:nvPr/>
        </p:nvSpPr>
        <p:spPr>
          <a:xfrm>
            <a:off x="8138160" y="548640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8C8C8C"/>
                </a:solidFill>
                <a:latin typeface="맑은 고딕"/>
                <a:ea typeface="맑은 고딕"/>
              </a:rPr>
              <a:t>PDF Brief AI</a:t>
            </a:r>
          </a:p>
        </p:txBody>
      </p:sp>
      <p:sp>
        <p:nvSpPr>
          <p:cNvPr id="4" name="면"/>
          <p:cNvSpPr/>
          <p:nvPr/>
        </p:nvSpPr>
        <p:spPr>
          <a:xfrm>
            <a:off x="685800" y="1097280"/>
            <a:ext cx="10817352" cy="1005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상자"/>
          <p:cNvSpPr/>
          <p:nvPr/>
        </p:nvSpPr>
        <p:spPr>
          <a:xfrm>
            <a:off x="1965960" y="1481328"/>
            <a:ext cx="237744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anchor="ctr" lIns="72000" rIns="72000" tIns="36000" bIns="3600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A1A1A"/>
                </a:solidFill>
                <a:latin typeface="맑은 고딕"/>
                <a:ea typeface="맑은 고딕"/>
              </a:rPr>
              <a:t>documents</a:t>
            </a:r>
          </a:p>
        </p:txBody>
      </p:sp>
      <p:sp>
        <p:nvSpPr>
          <p:cNvPr id="6" name="선"/>
          <p:cNvSpPr/>
          <p:nvPr/>
        </p:nvSpPr>
        <p:spPr>
          <a:xfrm>
            <a:off x="3154680" y="2139696"/>
            <a:ext cx="0" cy="475488"/>
          </a:xfrm>
          <a:prstGeom prst="line">
            <a:avLst/>
          </a:prstGeom>
          <a:noFill/>
          <a:ln w="12700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id="7" name="선"/>
          <p:cNvSpPr/>
          <p:nvPr/>
        </p:nvSpPr>
        <p:spPr>
          <a:xfrm>
            <a:off x="1920240" y="2615184"/>
            <a:ext cx="2468880" cy="0"/>
          </a:xfrm>
          <a:prstGeom prst="line">
            <a:avLst/>
          </a:prstGeom>
          <a:noFill/>
          <a:ln w="12700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id="8" name="선"/>
          <p:cNvSpPr/>
          <p:nvPr/>
        </p:nvSpPr>
        <p:spPr>
          <a:xfrm>
            <a:off x="1920240" y="2615184"/>
            <a:ext cx="0" cy="448056"/>
          </a:xfrm>
          <a:prstGeom prst="line">
            <a:avLst/>
          </a:prstGeom>
          <a:noFill/>
          <a:ln w="12700">
            <a:solidFill>
              <a:srgbClr val="8C8C8C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9" name="선"/>
          <p:cNvSpPr/>
          <p:nvPr/>
        </p:nvSpPr>
        <p:spPr>
          <a:xfrm>
            <a:off x="4389120" y="2615184"/>
            <a:ext cx="0" cy="448056"/>
          </a:xfrm>
          <a:prstGeom prst="line">
            <a:avLst/>
          </a:prstGeom>
          <a:noFill/>
          <a:ln w="12700">
            <a:solidFill>
              <a:srgbClr val="8C8C8C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0" name="글"/>
          <p:cNvSpPr/>
          <p:nvPr/>
        </p:nvSpPr>
        <p:spPr>
          <a:xfrm>
            <a:off x="1316736" y="268833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595959"/>
                </a:solidFill>
                <a:latin typeface="맑은 고딕"/>
                <a:ea typeface="맑은 고딕"/>
              </a:rPr>
              <a:t>1 : 1</a:t>
            </a:r>
          </a:p>
        </p:txBody>
      </p:sp>
      <p:sp>
        <p:nvSpPr>
          <p:cNvPr id="11" name="글"/>
          <p:cNvSpPr/>
          <p:nvPr/>
        </p:nvSpPr>
        <p:spPr>
          <a:xfrm>
            <a:off x="4480560" y="268833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000000"/>
                </a:solidFill>
                <a:latin typeface="맑은 고딕"/>
                <a:ea typeface="맑은 고딕"/>
              </a:rPr>
              <a:t>1 : N</a:t>
            </a:r>
          </a:p>
        </p:txBody>
      </p:sp>
      <p:sp>
        <p:nvSpPr>
          <p:cNvPr id="12" name="상자"/>
          <p:cNvSpPr/>
          <p:nvPr/>
        </p:nvSpPr>
        <p:spPr>
          <a:xfrm>
            <a:off x="822960" y="3063240"/>
            <a:ext cx="219456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anchor="ctr" lIns="72000" rIns="72000" tIns="36000" bIns="3600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b="1" dirty="0">
                <a:solidFill>
                  <a:srgbClr val="1A1A1A"/>
                </a:solidFill>
                <a:latin typeface="맑은 고딕"/>
                <a:ea typeface="맑은 고딕"/>
              </a:rPr>
              <a:t>extracted_texts</a:t>
            </a:r>
          </a:p>
        </p:txBody>
      </p:sp>
      <p:sp>
        <p:nvSpPr>
          <p:cNvPr id="13" name="상자"/>
          <p:cNvSpPr/>
          <p:nvPr/>
        </p:nvSpPr>
        <p:spPr>
          <a:xfrm>
            <a:off x="3291840" y="3063240"/>
            <a:ext cx="2194560" cy="658368"/>
          </a:xfrm>
          <a:prstGeom prst="roundRect">
            <a:avLst>
              <a:gd name="adj" fmla="val 9000"/>
            </a:avLst>
          </a:prstGeom>
          <a:solidFill>
            <a:srgbClr val="000000"/>
          </a:solidFill>
          <a:ln>
            <a:noFill/>
          </a:ln>
        </p:spPr>
        <p:txBody>
          <a:bodyPr anchor="ctr" lIns="72000" rIns="72000" tIns="36000" bIns="3600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analyses</a:t>
            </a:r>
          </a:p>
        </p:txBody>
      </p:sp>
      <p:sp>
        <p:nvSpPr>
          <p:cNvPr id="14" name="글"/>
          <p:cNvSpPr/>
          <p:nvPr/>
        </p:nvSpPr>
        <p:spPr>
          <a:xfrm>
            <a:off x="822960" y="380390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000" dirty="0">
                <a:solidFill>
                  <a:srgbClr val="595959"/>
                </a:solidFill>
                <a:latin typeface="맑은 고딕"/>
                <a:ea typeface="맑은 고딕"/>
              </a:rPr>
              <a:t>추출 원문 1건</a:t>
            </a:r>
          </a:p>
        </p:txBody>
      </p:sp>
      <p:sp>
        <p:nvSpPr>
          <p:cNvPr id="15" name="글"/>
          <p:cNvSpPr/>
          <p:nvPr/>
        </p:nvSpPr>
        <p:spPr>
          <a:xfrm>
            <a:off x="3291840" y="380390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000" b="1" dirty="0">
                <a:solidFill>
                  <a:srgbClr val="000000"/>
                </a:solidFill>
                <a:latin typeface="맑은 고딕"/>
                <a:ea typeface="맑은 고딕"/>
              </a:rPr>
              <a:t>분석 결과 N건</a:t>
            </a:r>
          </a:p>
        </p:txBody>
      </p:sp>
      <p:sp>
        <p:nvSpPr>
          <p:cNvPr id="16" name="글"/>
          <p:cNvSpPr/>
          <p:nvPr/>
        </p:nvSpPr>
        <p:spPr>
          <a:xfrm>
            <a:off x="685800" y="4242816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000" dirty="0">
                <a:solidFill>
                  <a:srgbClr val="595959"/>
                </a:solidFill>
                <a:latin typeface="맑은 고딕"/>
                <a:ea typeface="맑은 고딕"/>
              </a:rPr>
              <a:t>실제 화면 — 문서 1건에 summary · category 두 행</a:t>
            </a:r>
          </a:p>
        </p:txBody>
      </p:sp>
      <p:pic>
        <p:nvPicPr>
          <p:cNvPr id="17" name="분석이력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17136"/>
            <a:ext cx="4937760" cy="105675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8" name="면"/>
          <p:cNvSpPr/>
          <p:nvPr/>
        </p:nvSpPr>
        <p:spPr>
          <a:xfrm>
            <a:off x="6172200" y="1508760"/>
            <a:ext cx="32004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글"/>
          <p:cNvSpPr/>
          <p:nvPr/>
        </p:nvSpPr>
        <p:spPr>
          <a:xfrm>
            <a:off x="6382512" y="1481328"/>
            <a:ext cx="5120640" cy="9601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A1A1A"/>
                </a:solidFill>
                <a:latin typeface="맑은 고딕"/>
                <a:ea typeface="맑은 고딕"/>
              </a:rPr>
              <a:t>documents 에 summary 컬럼을 두지 않았다</a:t>
            </a:r>
          </a:p>
          <a:p>
            <a:pPr algn="l" marL="0" indent="0">
              <a:lnSpc>
                <a:spcPct val="118000"/>
              </a:lnSpc>
              <a:spcAft>
                <a:spcPts val="0"/>
              </a:spcAft>
              <a:buNone/>
            </a:pPr>
            <a:r>
              <a:rPr lang="ko-KR" sz="1200" dirty="0">
                <a:solidFill>
                  <a:srgbClr val="595959"/>
                </a:solidFill>
                <a:latin typeface="맑은 고딕"/>
                <a:ea typeface="맑은 고딕"/>
              </a:rPr>
              <a:t>컬럼으로 두면 재분석할 때 이전 결과가 덮여 사라진다</a:t>
            </a:r>
          </a:p>
        </p:txBody>
      </p:sp>
      <p:sp>
        <p:nvSpPr>
          <p:cNvPr id="20" name="면"/>
          <p:cNvSpPr/>
          <p:nvPr/>
        </p:nvSpPr>
        <p:spPr>
          <a:xfrm>
            <a:off x="6172200" y="2624328"/>
            <a:ext cx="32004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글"/>
          <p:cNvSpPr/>
          <p:nvPr/>
        </p:nvSpPr>
        <p:spPr>
          <a:xfrm>
            <a:off x="6382512" y="2596896"/>
            <a:ext cx="5120640" cy="9601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A1A1A"/>
                </a:solidFill>
                <a:latin typeface="맑은 고딕"/>
                <a:ea typeface="맑은 고딕"/>
              </a:rPr>
              <a:t>1 : N 이라 이력이 남는다</a:t>
            </a:r>
          </a:p>
          <a:p>
            <a:pPr algn="l" marL="0" indent="0">
              <a:lnSpc>
                <a:spcPct val="118000"/>
              </a:lnSpc>
              <a:spcAft>
                <a:spcPts val="0"/>
              </a:spcAft>
              <a:buNone/>
            </a:pPr>
            <a:r>
              <a:rPr lang="ko-KR" sz="1200" dirty="0">
                <a:solidFill>
                  <a:srgbClr val="595959"/>
                </a:solidFill>
                <a:latin typeface="맑은 고딕"/>
                <a:ea typeface="맑은 고딕"/>
              </a:rPr>
              <a:t>같은 문서에 요약 · 분류 · 재분석 결과가 행으로 쌓인다</a:t>
            </a:r>
          </a:p>
        </p:txBody>
      </p:sp>
      <p:sp>
        <p:nvSpPr>
          <p:cNvPr id="22" name="면"/>
          <p:cNvSpPr/>
          <p:nvPr/>
        </p:nvSpPr>
        <p:spPr>
          <a:xfrm>
            <a:off x="6172200" y="3739896"/>
            <a:ext cx="32004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글"/>
          <p:cNvSpPr/>
          <p:nvPr/>
        </p:nvSpPr>
        <p:spPr>
          <a:xfrm>
            <a:off x="6382512" y="3712464"/>
            <a:ext cx="5120640" cy="9601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A1A1A"/>
                </a:solidFill>
                <a:latin typeface="맑은 고딕"/>
                <a:ea typeface="맑은 고딕"/>
              </a:rPr>
              <a:t>result_json 은 JSONB</a:t>
            </a:r>
          </a:p>
          <a:p>
            <a:pPr algn="l" marL="0" indent="0">
              <a:lnSpc>
                <a:spcPct val="118000"/>
              </a:lnSpc>
              <a:spcAft>
                <a:spcPts val="0"/>
              </a:spcAft>
              <a:buNone/>
            </a:pPr>
            <a:r>
              <a:rPr lang="ko-KR" sz="1200" dirty="0">
                <a:solidFill>
                  <a:srgbClr val="595959"/>
                </a:solidFill>
                <a:latin typeface="맑은 고딕"/>
                <a:ea typeface="맑은 고딕"/>
              </a:rPr>
              <a:t>분석기가 늘어나도 테이블을 바꾸지 않는다</a:t>
            </a:r>
          </a:p>
        </p:txBody>
      </p:sp>
      <p:sp>
        <p:nvSpPr>
          <p:cNvPr id="24" name="면"/>
          <p:cNvSpPr/>
          <p:nvPr/>
        </p:nvSpPr>
        <p:spPr>
          <a:xfrm>
            <a:off x="6172200" y="4855464"/>
            <a:ext cx="32004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글"/>
          <p:cNvSpPr/>
          <p:nvPr/>
        </p:nvSpPr>
        <p:spPr>
          <a:xfrm>
            <a:off x="6382512" y="4828032"/>
            <a:ext cx="5120640" cy="9601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A1A1A"/>
                </a:solidFill>
                <a:latin typeface="맑은 고딕"/>
                <a:ea typeface="맑은 고딕"/>
              </a:rPr>
              <a:t>실행 정보를 함께 기록한다</a:t>
            </a:r>
          </a:p>
          <a:p>
            <a:pPr algn="l" marL="0" indent="0">
              <a:lnSpc>
                <a:spcPct val="118000"/>
              </a:lnSpc>
              <a:spcAft>
                <a:spcPts val="0"/>
              </a:spcAft>
              <a:buNone/>
            </a:pPr>
            <a:r>
              <a:rPr lang="ko-KR" sz="1200" dirty="0">
                <a:solidFill>
                  <a:srgbClr val="595959"/>
                </a:solidFill>
                <a:latin typeface="맑은 고딕"/>
                <a:ea typeface="맑은 고딕"/>
              </a:rPr>
              <a:t>model_name · prompt_version · tokens · latency_ms</a:t>
            </a:r>
            <a:br>
              <a:rPr lang="ko-KR" sz="1200" dirty="0">
                <a:solidFill>
                  <a:srgbClr val="595959"/>
                </a:solidFill>
                <a:latin typeface="맑은 고딕"/>
                <a:ea typeface="맑은 고딕"/>
              </a:rPr>
            </a:br>
            <a:r>
              <a:rPr lang="ko-KR" sz="1200" dirty="0">
                <a:solidFill>
                  <a:srgbClr val="595959"/>
                </a:solidFill>
                <a:latin typeface="맑은 고딕"/>
                <a:ea typeface="맑은 고딕"/>
              </a:rPr>
              <a:t>→ 자체 모델과 상용 API 를 비교할 근거 데이터</a:t>
            </a:r>
          </a:p>
        </p:txBody>
      </p:sp>
      <p:sp>
        <p:nvSpPr>
          <p:cNvPr id="26" name="면"/>
          <p:cNvSpPr/>
          <p:nvPr/>
        </p:nvSpPr>
        <p:spPr>
          <a:xfrm>
            <a:off x="685800" y="5961888"/>
            <a:ext cx="10817352" cy="640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글"/>
          <p:cNvSpPr/>
          <p:nvPr/>
        </p:nvSpPr>
        <p:spPr>
          <a:xfrm>
            <a:off x="685800" y="6089904"/>
            <a:ext cx="10817352" cy="42062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000" b="1" dirty="0">
                <a:solidFill>
                  <a:srgbClr val="000000"/>
                </a:solidFill>
                <a:latin typeface="맑은 고딕"/>
                <a:ea typeface="맑은 고딕"/>
              </a:rPr>
              <a:t>남은 과제  </a:t>
            </a:r>
            <a:r>
              <a:rPr lang="ko-KR" sz="1000" dirty="0">
                <a:solidFill>
                  <a:srgbClr val="595959"/>
                </a:solidFill>
                <a:latin typeface="맑은 고딕"/>
                <a:ea typeface="맑은 고딕"/>
              </a:rPr>
              <a:t>목록 조회는 현재 2+2N — 문서 9건에 쿼리 20개. 표시용 값을 documents 에 비정규화하면 2개로 줄어든다. 코드 프리즈 이후라 본프로젝트로 이관했다.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DF Brief AI">
  <a:themeElements>
    <a:clrScheme name="기본">
      <a:dk1>
        <a:srgbClr val="1F2937"/>
      </a:dk1>
      <a:lt1>
        <a:srgbClr val="FFFFFF"/>
      </a:lt1>
      <a:dk2>
        <a:srgbClr val="1E40AF"/>
      </a:dk2>
      <a:lt2>
        <a:srgbClr val="F8FAFC"/>
      </a:lt2>
      <a:accent1>
        <a:srgbClr val="1E40AF"/>
      </a:accent1>
      <a:accent2>
        <a:srgbClr val="3B82F6"/>
      </a:accent2>
      <a:accent3>
        <a:srgbClr val="6B7280"/>
      </a:accent3>
      <a:accent4>
        <a:srgbClr val="E5E7EB"/>
      </a:accent4>
      <a:accent5>
        <a:srgbClr val="16A34A"/>
      </a:accent5>
      <a:accent6>
        <a:srgbClr val="DC2626"/>
      </a:accent6>
      <a:hlink>
        <a:srgbClr val="1E40AF"/>
      </a:hlink>
      <a:folHlink>
        <a:srgbClr val="6B7280"/>
      </a:folHlink>
    </a:clrScheme>
    <a:fontScheme name="기본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기본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데이터 모델 설계</dc:title>
  <dc:creator>김보현</dc:creator>
</cp:coreProperties>
</file>